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053" autoAdjust="0"/>
  </p:normalViewPr>
  <p:slideViewPr>
    <p:cSldViewPr snapToGrid="0">
      <p:cViewPr varScale="1">
        <p:scale>
          <a:sx n="60" d="100"/>
          <a:sy n="60" d="100"/>
        </p:scale>
        <p:origin x="8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3904D-EFB2-4B71-8736-ABC7468A42EB}"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CB787E-B6E1-43F6-A06F-9C91F7252C74}" type="slidenum">
              <a:rPr lang="en-US" smtClean="0"/>
              <a:t>‹#›</a:t>
            </a:fld>
            <a:endParaRPr lang="en-US"/>
          </a:p>
        </p:txBody>
      </p:sp>
    </p:spTree>
    <p:extLst>
      <p:ext uri="{BB962C8B-B14F-4D97-AF65-F5344CB8AC3E}">
        <p14:creationId xmlns:p14="http://schemas.microsoft.com/office/powerpoint/2010/main" val="3845810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Giao tiếp toán học là một hình thức của giao tiếp nhằm thuyết phục người khác về những ý tưởng, suy nghĩ, câu hỏi hay giả thuyết toán học của mình để chia sẻ ý tưởng và làm rõ sự hiểu biết về những vấn đề toán học đó. Thông qua thảo luận và đặt câu hỏi, các ý kiến toán học được: Phản ánh, thảo luận và chỉnh sửa. Quá trình HS lập luận, phân tích một cách có hệ thống giúp các em củng cố kiến thức và hiểu biết toán một cách sâu sắc hơn. </a:t>
            </a:r>
            <a:endParaRPr lang="en-US" dirty="0"/>
          </a:p>
        </p:txBody>
      </p:sp>
      <p:sp>
        <p:nvSpPr>
          <p:cNvPr id="4" name="Slide Number Placeholder 3"/>
          <p:cNvSpPr>
            <a:spLocks noGrp="1"/>
          </p:cNvSpPr>
          <p:nvPr>
            <p:ph type="sldNum" sz="quarter" idx="5"/>
          </p:nvPr>
        </p:nvSpPr>
        <p:spPr/>
        <p:txBody>
          <a:bodyPr/>
          <a:lstStyle/>
          <a:p>
            <a:fld id="{BBCB787E-B6E1-43F6-A06F-9C91F7252C74}" type="slidenum">
              <a:rPr lang="en-US" smtClean="0"/>
              <a:t>5</a:t>
            </a:fld>
            <a:endParaRPr lang="en-US"/>
          </a:p>
        </p:txBody>
      </p:sp>
    </p:spTree>
    <p:extLst>
      <p:ext uri="{BB962C8B-B14F-4D97-AF65-F5344CB8AC3E}">
        <p14:creationId xmlns:p14="http://schemas.microsoft.com/office/powerpoint/2010/main" val="30543976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8/4/2026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D37572-D38F-437B-ACBD-B8DF195EC5B9}"/>
              </a:ext>
            </a:extLst>
          </p:cNvPr>
          <p:cNvSpPr/>
          <p:nvPr/>
        </p:nvSpPr>
        <p:spPr>
          <a:xfrm>
            <a:off x="3163498" y="1297926"/>
            <a:ext cx="5865002" cy="707886"/>
          </a:xfrm>
          <a:prstGeom prst="rect">
            <a:avLst/>
          </a:prstGeom>
          <a:noFill/>
        </p:spPr>
        <p:txBody>
          <a:bodyPr wrap="none" lIns="91440" tIns="45720" rIns="91440" bIns="45720">
            <a:spAutoFit/>
          </a:bodyPr>
          <a:lstStyle/>
          <a:p>
            <a:pPr algn="ctr"/>
            <a:r>
              <a:rPr lang="en-US" sz="2000" b="1" dirty="0">
                <a:ln w="9525">
                  <a:solidFill>
                    <a:schemeClr val="bg1"/>
                  </a:solidFill>
                  <a:prstDash val="solid"/>
                </a:ln>
                <a:effectLst>
                  <a:outerShdw blurRad="12700" dist="38100" dir="2700000" algn="tl" rotWithShape="0">
                    <a:schemeClr val="bg1">
                      <a:lumMod val="50000"/>
                    </a:schemeClr>
                  </a:outerShdw>
                </a:effectLst>
              </a:rPr>
              <a:t>ỦY BAN NHÂN DÂN THÀNH PHỐ HỒ CHÍ MINH</a:t>
            </a:r>
          </a:p>
          <a:p>
            <a:pPr algn="ctr"/>
            <a:r>
              <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SỞ GIÁO DỤC VÀ ĐÀO TẠO THÀNH PHỐ HỒ CHÍ MINH</a:t>
            </a:r>
          </a:p>
        </p:txBody>
      </p:sp>
      <p:pic>
        <p:nvPicPr>
          <p:cNvPr id="6" name="Picture 5">
            <a:extLst>
              <a:ext uri="{FF2B5EF4-FFF2-40B4-BE49-F238E27FC236}">
                <a16:creationId xmlns:a16="http://schemas.microsoft.com/office/drawing/2014/main" id="{699B0A03-7C97-4745-9534-A6325A2AC21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6500" b="93500" l="6500" r="92500">
                        <a14:foregroundMark x1="17000" y1="23000" x2="11500" y2="62500"/>
                        <a14:foregroundMark x1="11500" y1="62500" x2="41000" y2="87500"/>
                        <a14:foregroundMark x1="41000" y1="87500" x2="77500" y2="75500"/>
                        <a14:foregroundMark x1="77500" y1="75500" x2="92000" y2="50000"/>
                        <a14:foregroundMark x1="92000" y1="50000" x2="77000" y2="18000"/>
                        <a14:foregroundMark x1="77000" y1="18000" x2="44500" y2="8500"/>
                        <a14:foregroundMark x1="44500" y1="8500" x2="22000" y2="20500"/>
                        <a14:foregroundMark x1="22000" y1="20500" x2="16000" y2="27000"/>
                        <a14:foregroundMark x1="8500" y1="34500" x2="9000" y2="56000"/>
                        <a14:foregroundMark x1="62500" y1="8000" x2="42000" y2="9500"/>
                        <a14:foregroundMark x1="38500" y1="6500" x2="63500" y2="9500"/>
                        <a14:foregroundMark x1="56000" y1="8500" x2="44500" y2="9000"/>
                        <a14:foregroundMark x1="9000" y1="32500" x2="6500" y2="39000"/>
                        <a14:foregroundMark x1="90000" y1="34500" x2="92500" y2="47500"/>
                        <a14:foregroundMark x1="92000" y1="34500" x2="90000" y2="57500"/>
                        <a14:foregroundMark x1="7000" y1="55000" x2="14500" y2="72500"/>
                        <a14:foregroundMark x1="34000" y1="87000" x2="56000" y2="90000"/>
                        <a14:foregroundMark x1="29000" y1="93500" x2="63500" y2="88500"/>
                        <a14:foregroundMark x1="61500" y1="89500" x2="53000" y2="84500"/>
                        <a14:foregroundMark x1="57000" y1="58500" x2="64500" y2="60000"/>
                        <a14:foregroundMark x1="38000" y1="47000" x2="38000" y2="63000"/>
                        <a14:foregroundMark x1="52000" y1="92000" x2="35000" y2="92500"/>
                        <a14:foregroundMark x1="23000" y1="88000" x2="55500" y2="93000"/>
                        <a14:foregroundMark x1="55500" y1="93000" x2="57500" y2="90000"/>
                      </a14:backgroundRemoval>
                    </a14:imgEffect>
                  </a14:imgLayer>
                </a14:imgProps>
              </a:ext>
            </a:extLst>
          </a:blip>
          <a:stretch>
            <a:fillRect/>
          </a:stretch>
        </p:blipFill>
        <p:spPr>
          <a:xfrm>
            <a:off x="5542910" y="85757"/>
            <a:ext cx="1106179" cy="1106179"/>
          </a:xfrm>
          <a:prstGeom prst="rect">
            <a:avLst/>
          </a:prstGeom>
        </p:spPr>
      </p:pic>
      <p:sp>
        <p:nvSpPr>
          <p:cNvPr id="7" name="Rectangle 6">
            <a:extLst>
              <a:ext uri="{FF2B5EF4-FFF2-40B4-BE49-F238E27FC236}">
                <a16:creationId xmlns:a16="http://schemas.microsoft.com/office/drawing/2014/main" id="{CAAEFBFE-9274-4993-A81C-A0C6F7887CF4}"/>
              </a:ext>
            </a:extLst>
          </p:cNvPr>
          <p:cNvSpPr/>
          <p:nvPr/>
        </p:nvSpPr>
        <p:spPr>
          <a:xfrm>
            <a:off x="1216586" y="2111802"/>
            <a:ext cx="9758825" cy="769441"/>
          </a:xfrm>
          <a:prstGeom prst="rect">
            <a:avLst/>
          </a:prstGeom>
          <a:noFill/>
        </p:spPr>
        <p:txBody>
          <a:bodyPr wrap="none" lIns="91440" tIns="45720" rIns="91440" bIns="45720">
            <a:spAutoFit/>
          </a:bodyPr>
          <a:lstStyle/>
          <a:p>
            <a:pPr algn="ctr"/>
            <a:r>
              <a:rPr lang="en-US" sz="4400" b="1" cap="none" spc="0" dirty="0">
                <a:ln w="6600">
                  <a:solidFill>
                    <a:schemeClr val="accent2"/>
                  </a:solidFill>
                  <a:prstDash val="solid"/>
                </a:ln>
                <a:solidFill>
                  <a:srgbClr val="FFFFFF"/>
                </a:solidFill>
                <a:effectLst>
                  <a:outerShdw dist="38100" dir="2700000" algn="tl" rotWithShape="0">
                    <a:schemeClr val="accent2"/>
                  </a:outerShdw>
                </a:effectLst>
              </a:rPr>
              <a:t>TẬP HUẤN CHUYÊN MÔN BỘ MÔN TOÁN</a:t>
            </a:r>
          </a:p>
        </p:txBody>
      </p:sp>
      <p:sp>
        <p:nvSpPr>
          <p:cNvPr id="8" name="Rectangle 7">
            <a:extLst>
              <a:ext uri="{FF2B5EF4-FFF2-40B4-BE49-F238E27FC236}">
                <a16:creationId xmlns:a16="http://schemas.microsoft.com/office/drawing/2014/main" id="{1DED66C2-7507-4160-B89C-6635F2E10DBE}"/>
              </a:ext>
            </a:extLst>
          </p:cNvPr>
          <p:cNvSpPr/>
          <p:nvPr/>
        </p:nvSpPr>
        <p:spPr>
          <a:xfrm>
            <a:off x="690383" y="3099595"/>
            <a:ext cx="10811229" cy="1754326"/>
          </a:xfrm>
          <a:prstGeom prst="rect">
            <a:avLst/>
          </a:prstGeom>
          <a:noFill/>
        </p:spPr>
        <p:txBody>
          <a:bodyPr wrap="none" lIns="91440" tIns="45720" rIns="91440" bIns="45720">
            <a:spAutoFit/>
          </a:bodyPr>
          <a:lstStyle/>
          <a:p>
            <a:pPr algn="ctr"/>
            <a:r>
              <a:rPr lang="en-US" sz="3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TẬP HUẤN PHÁT TRIỂN NĂNG LỰC TOÁN HỌC</a:t>
            </a:r>
          </a:p>
          <a:p>
            <a:pPr algn="ctr"/>
            <a:r>
              <a:rPr lang="en-US" sz="3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VÀ NĂNG LỰC NGÔN NGỮ THÔNG QUA DẠY HỌC TOÁN</a:t>
            </a:r>
          </a:p>
          <a:p>
            <a:pPr algn="ctr"/>
            <a:r>
              <a:rPr lang="en-US" sz="3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BẰNG TIẾNG ANH</a:t>
            </a:r>
          </a:p>
        </p:txBody>
      </p:sp>
      <p:sp>
        <p:nvSpPr>
          <p:cNvPr id="9" name="Rectangle 8">
            <a:extLst>
              <a:ext uri="{FF2B5EF4-FFF2-40B4-BE49-F238E27FC236}">
                <a16:creationId xmlns:a16="http://schemas.microsoft.com/office/drawing/2014/main" id="{7930DA17-E96B-4475-AF3C-399E35E50112}"/>
              </a:ext>
            </a:extLst>
          </p:cNvPr>
          <p:cNvSpPr/>
          <p:nvPr/>
        </p:nvSpPr>
        <p:spPr>
          <a:xfrm>
            <a:off x="4245971" y="5714678"/>
            <a:ext cx="3700052" cy="400110"/>
          </a:xfrm>
          <a:prstGeom prst="rect">
            <a:avLst/>
          </a:prstGeom>
          <a:noFill/>
        </p:spPr>
        <p:txBody>
          <a:bodyPr wrap="none" lIns="91440" tIns="45720" rIns="91440" bIns="45720">
            <a:spAutoFit/>
          </a:bodyPr>
          <a:lstStyle/>
          <a:p>
            <a:pPr algn="ctr"/>
            <a:r>
              <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THÀNH PHỐ HỒ CHÍ MINH - 2026</a:t>
            </a:r>
          </a:p>
        </p:txBody>
      </p:sp>
    </p:spTree>
    <p:extLst>
      <p:ext uri="{BB962C8B-B14F-4D97-AF65-F5344CB8AC3E}">
        <p14:creationId xmlns:p14="http://schemas.microsoft.com/office/powerpoint/2010/main" val="30529888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EDD671-D1A5-4D6B-A971-994095F6A510}"/>
              </a:ext>
            </a:extLst>
          </p:cNvPr>
          <p:cNvSpPr/>
          <p:nvPr/>
        </p:nvSpPr>
        <p:spPr>
          <a:xfrm>
            <a:off x="167052" y="207044"/>
            <a:ext cx="3260829" cy="523220"/>
          </a:xfrm>
          <a:prstGeom prst="rect">
            <a:avLst/>
          </a:prstGeom>
          <a:noFill/>
        </p:spPr>
        <p:txBody>
          <a:bodyPr wrap="none" lIns="91440" tIns="45720" rIns="91440" bIns="45720">
            <a:spAutoFit/>
          </a:bodyPr>
          <a:lstStyle/>
          <a:p>
            <a:pPr algn="ct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Các</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văn</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bản</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pháp</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lí</a:t>
            </a:r>
            <a:endPar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BFEE92E-9D54-4C03-9955-3BC181D5BBFD}"/>
              </a:ext>
            </a:extLst>
          </p:cNvPr>
          <p:cNvSpPr txBox="1"/>
          <p:nvPr/>
        </p:nvSpPr>
        <p:spPr>
          <a:xfrm>
            <a:off x="672625" y="1097941"/>
            <a:ext cx="10846749" cy="4524315"/>
          </a:xfrm>
          <a:prstGeom prst="rect">
            <a:avLst/>
          </a:prstGeom>
          <a:noFill/>
        </p:spPr>
        <p:txBody>
          <a:bodyPr wrap="square">
            <a:spAutoFit/>
          </a:bodyPr>
          <a:lstStyle/>
          <a:p>
            <a:pPr marL="285750" indent="-285750">
              <a:buFontTx/>
              <a:buChar char="-"/>
            </a:pPr>
            <a:r>
              <a:rPr lang="vi-VN" sz="3200" b="1" i="0" dirty="0">
                <a:effectLst/>
                <a:latin typeface="Times New Roman" panose="02020603050405020304" pitchFamily="18" charset="0"/>
              </a:rPr>
              <a:t>Quyết định số 2371/QĐ-TTg ngày 27/10/2025 phê duyệt Đề án “Đưa tiếng Anh thành ngôn ngữ thứ hai trong trường học giai đoạn 2025-2035, tầm nhìn đến năm 2045”</a:t>
            </a:r>
            <a:endParaRPr lang="en-US" sz="3200" b="1" i="0" dirty="0">
              <a:effectLst/>
              <a:latin typeface="Times New Roman" panose="02020603050405020304" pitchFamily="18" charset="0"/>
            </a:endParaRPr>
          </a:p>
          <a:p>
            <a:pPr marL="285750" indent="-285750">
              <a:buFontTx/>
              <a:buChar char="-"/>
            </a:pPr>
            <a:r>
              <a:rPr lang="en-US" sz="3200" b="1" dirty="0" err="1">
                <a:latin typeface="Times New Roman" panose="02020603050405020304" pitchFamily="18" charset="0"/>
              </a:rPr>
              <a:t>Kế</a:t>
            </a:r>
            <a:r>
              <a:rPr lang="en-US" sz="3200" b="1" dirty="0">
                <a:latin typeface="Times New Roman" panose="02020603050405020304" pitchFamily="18" charset="0"/>
              </a:rPr>
              <a:t> </a:t>
            </a:r>
            <a:r>
              <a:rPr lang="en-US" sz="3200" b="1" dirty="0" err="1">
                <a:latin typeface="Times New Roman" panose="02020603050405020304" pitchFamily="18" charset="0"/>
              </a:rPr>
              <a:t>hoạch</a:t>
            </a:r>
            <a:r>
              <a:rPr lang="en-US" sz="3200" b="1" dirty="0">
                <a:latin typeface="Times New Roman" panose="02020603050405020304" pitchFamily="18" charset="0"/>
              </a:rPr>
              <a:t> </a:t>
            </a:r>
            <a:r>
              <a:rPr lang="en-US" sz="3200" b="1" dirty="0" err="1">
                <a:latin typeface="Times New Roman" panose="02020603050405020304" pitchFamily="18" charset="0"/>
              </a:rPr>
              <a:t>số</a:t>
            </a:r>
            <a:r>
              <a:rPr lang="en-US" sz="3200" b="1" dirty="0">
                <a:latin typeface="Times New Roman" panose="02020603050405020304" pitchFamily="18" charset="0"/>
              </a:rPr>
              <a:t> 586/KH-BGDĐT </a:t>
            </a:r>
            <a:r>
              <a:rPr lang="en-US" sz="3200" b="1" dirty="0" err="1">
                <a:latin typeface="Times New Roman" panose="02020603050405020304" pitchFamily="18" charset="0"/>
              </a:rPr>
              <a:t>ngày</a:t>
            </a:r>
            <a:r>
              <a:rPr lang="en-US" sz="3200" b="1" dirty="0">
                <a:latin typeface="Times New Roman" panose="02020603050405020304" pitchFamily="18" charset="0"/>
              </a:rPr>
              <a:t> 09/04/2026 </a:t>
            </a:r>
            <a:r>
              <a:rPr lang="en-US" sz="3200" b="1" dirty="0" err="1">
                <a:latin typeface="Times New Roman" panose="02020603050405020304" pitchFamily="18" charset="0"/>
              </a:rPr>
              <a:t>về</a:t>
            </a:r>
            <a:r>
              <a:rPr lang="en-US" sz="3200" b="1" dirty="0">
                <a:latin typeface="Times New Roman" panose="02020603050405020304" pitchFamily="18" charset="0"/>
              </a:rPr>
              <a:t> </a:t>
            </a:r>
            <a:r>
              <a:rPr lang="en-US" sz="3200" b="1" dirty="0" err="1">
                <a:latin typeface="Times New Roman" panose="02020603050405020304" pitchFamily="18" charset="0"/>
              </a:rPr>
              <a:t>việc</a:t>
            </a:r>
            <a:r>
              <a:rPr lang="en-US" sz="3200" b="1" dirty="0">
                <a:latin typeface="Times New Roman" panose="02020603050405020304" pitchFamily="18" charset="0"/>
              </a:rPr>
              <a:t> </a:t>
            </a:r>
            <a:r>
              <a:rPr lang="en-US" sz="3200" b="1" dirty="0" err="1">
                <a:latin typeface="Times New Roman" panose="02020603050405020304" pitchFamily="18" charset="0"/>
              </a:rPr>
              <a:t>xây</a:t>
            </a:r>
            <a:r>
              <a:rPr lang="en-US" sz="3200" b="1" dirty="0">
                <a:latin typeface="Times New Roman" panose="02020603050405020304" pitchFamily="18" charset="0"/>
              </a:rPr>
              <a:t> </a:t>
            </a:r>
            <a:r>
              <a:rPr lang="en-US" sz="3200" b="1" dirty="0" err="1">
                <a:latin typeface="Times New Roman" panose="02020603050405020304" pitchFamily="18" charset="0"/>
              </a:rPr>
              <a:t>dựng</a:t>
            </a:r>
            <a:r>
              <a:rPr lang="en-US" sz="3200" b="1" dirty="0">
                <a:latin typeface="Times New Roman" panose="02020603050405020304" pitchFamily="18" charset="0"/>
              </a:rPr>
              <a:t> </a:t>
            </a:r>
            <a:r>
              <a:rPr lang="en-US" sz="3200" b="1" dirty="0" err="1">
                <a:latin typeface="Times New Roman" panose="02020603050405020304" pitchFamily="18" charset="0"/>
              </a:rPr>
              <a:t>tài</a:t>
            </a:r>
            <a:r>
              <a:rPr lang="en-US" sz="3200" b="1" dirty="0">
                <a:latin typeface="Times New Roman" panose="02020603050405020304" pitchFamily="18" charset="0"/>
              </a:rPr>
              <a:t> </a:t>
            </a:r>
            <a:r>
              <a:rPr lang="en-US" sz="3200" b="1" dirty="0" err="1">
                <a:latin typeface="Times New Roman" panose="02020603050405020304" pitchFamily="18" charset="0"/>
              </a:rPr>
              <a:t>liệu</a:t>
            </a:r>
            <a:r>
              <a:rPr lang="en-US" sz="3200" b="1" dirty="0">
                <a:latin typeface="Times New Roman" panose="02020603050405020304" pitchFamily="18" charset="0"/>
              </a:rPr>
              <a:t> </a:t>
            </a:r>
            <a:r>
              <a:rPr lang="en-US" sz="3200" b="1" dirty="0" err="1">
                <a:latin typeface="Times New Roman" panose="02020603050405020304" pitchFamily="18" charset="0"/>
              </a:rPr>
              <a:t>hướng</a:t>
            </a:r>
            <a:r>
              <a:rPr lang="en-US" sz="3200" b="1" dirty="0">
                <a:latin typeface="Times New Roman" panose="02020603050405020304" pitchFamily="18" charset="0"/>
              </a:rPr>
              <a:t> </a:t>
            </a:r>
            <a:r>
              <a:rPr lang="en-US" sz="3200" b="1" dirty="0" err="1">
                <a:latin typeface="Times New Roman" panose="02020603050405020304" pitchFamily="18" charset="0"/>
              </a:rPr>
              <a:t>dẫn</a:t>
            </a:r>
            <a:r>
              <a:rPr lang="en-US" sz="3200" b="1" dirty="0">
                <a:latin typeface="Times New Roman" panose="02020603050405020304" pitchFamily="18" charset="0"/>
              </a:rPr>
              <a:t> </a:t>
            </a:r>
            <a:r>
              <a:rPr lang="en-US" sz="3200" b="1" dirty="0" err="1">
                <a:latin typeface="Times New Roman" panose="02020603050405020304" pitchFamily="18" charset="0"/>
              </a:rPr>
              <a:t>dạy</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một</a:t>
            </a:r>
            <a:r>
              <a:rPr lang="en-US" sz="3200" b="1" dirty="0">
                <a:latin typeface="Times New Roman" panose="02020603050405020304" pitchFamily="18" charset="0"/>
              </a:rPr>
              <a:t> </a:t>
            </a:r>
            <a:r>
              <a:rPr lang="en-US" sz="3200" b="1" dirty="0" err="1">
                <a:latin typeface="Times New Roman" panose="02020603050405020304" pitchFamily="18" charset="0"/>
              </a:rPr>
              <a:t>số</a:t>
            </a:r>
            <a:r>
              <a:rPr lang="en-US" sz="3200" b="1" dirty="0">
                <a:latin typeface="Times New Roman" panose="02020603050405020304" pitchFamily="18" charset="0"/>
              </a:rPr>
              <a:t> </a:t>
            </a:r>
            <a:r>
              <a:rPr lang="en-US" sz="3200" b="1" dirty="0" err="1">
                <a:latin typeface="Times New Roman" panose="02020603050405020304" pitchFamily="18" charset="0"/>
              </a:rPr>
              <a:t>môn</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bằng</a:t>
            </a:r>
            <a:r>
              <a:rPr lang="en-US" sz="3200" b="1" dirty="0">
                <a:latin typeface="Times New Roman" panose="02020603050405020304" pitchFamily="18" charset="0"/>
              </a:rPr>
              <a:t> </a:t>
            </a:r>
            <a:r>
              <a:rPr lang="en-US" sz="3200" b="1" dirty="0" err="1">
                <a:latin typeface="Times New Roman" panose="02020603050405020304" pitchFamily="18" charset="0"/>
              </a:rPr>
              <a:t>tiếng</a:t>
            </a:r>
            <a:r>
              <a:rPr lang="en-US" sz="3200" b="1" dirty="0">
                <a:latin typeface="Times New Roman" panose="02020603050405020304" pitchFamily="18" charset="0"/>
              </a:rPr>
              <a:t> Anh </a:t>
            </a:r>
            <a:r>
              <a:rPr lang="en-US" sz="3200" b="1" dirty="0" err="1">
                <a:latin typeface="Times New Roman" panose="02020603050405020304" pitchFamily="18" charset="0"/>
              </a:rPr>
              <a:t>trong</a:t>
            </a:r>
            <a:r>
              <a:rPr lang="en-US" sz="3200" b="1" dirty="0">
                <a:latin typeface="Times New Roman" panose="02020603050405020304" pitchFamily="18" charset="0"/>
              </a:rPr>
              <a:t> </a:t>
            </a:r>
            <a:r>
              <a:rPr lang="en-US" sz="3200" b="1" dirty="0" err="1">
                <a:latin typeface="Times New Roman" panose="02020603050405020304" pitchFamily="18" charset="0"/>
              </a:rPr>
              <a:t>cơ</a:t>
            </a:r>
            <a:r>
              <a:rPr lang="en-US" sz="3200" b="1" dirty="0">
                <a:latin typeface="Times New Roman" panose="02020603050405020304" pitchFamily="18" charset="0"/>
              </a:rPr>
              <a:t> </a:t>
            </a:r>
            <a:r>
              <a:rPr lang="en-US" sz="3200" b="1" dirty="0" err="1">
                <a:latin typeface="Times New Roman" panose="02020603050405020304" pitchFamily="18" charset="0"/>
              </a:rPr>
              <a:t>sở</a:t>
            </a:r>
            <a:r>
              <a:rPr lang="en-US" sz="3200" b="1" dirty="0">
                <a:latin typeface="Times New Roman" panose="02020603050405020304" pitchFamily="18" charset="0"/>
              </a:rPr>
              <a:t> </a:t>
            </a:r>
            <a:r>
              <a:rPr lang="en-US" sz="3200" b="1" dirty="0" err="1">
                <a:latin typeface="Times New Roman" panose="02020603050405020304" pitchFamily="18" charset="0"/>
              </a:rPr>
              <a:t>giáo</a:t>
            </a:r>
            <a:r>
              <a:rPr lang="en-US" sz="3200" b="1" dirty="0">
                <a:latin typeface="Times New Roman" panose="02020603050405020304" pitchFamily="18" charset="0"/>
              </a:rPr>
              <a:t> </a:t>
            </a:r>
            <a:r>
              <a:rPr lang="en-US" sz="3200" b="1" dirty="0" err="1">
                <a:latin typeface="Times New Roman" panose="02020603050405020304" pitchFamily="18" charset="0"/>
              </a:rPr>
              <a:t>dục</a:t>
            </a:r>
            <a:r>
              <a:rPr lang="en-US" sz="3200" b="1" dirty="0">
                <a:latin typeface="Times New Roman" panose="02020603050405020304" pitchFamily="18" charset="0"/>
              </a:rPr>
              <a:t> </a:t>
            </a:r>
            <a:r>
              <a:rPr lang="en-US" sz="3200" b="1" dirty="0" err="1">
                <a:latin typeface="Times New Roman" panose="02020603050405020304" pitchFamily="18" charset="0"/>
              </a:rPr>
              <a:t>phổ</a:t>
            </a:r>
            <a:r>
              <a:rPr lang="en-US" sz="3200" b="1" dirty="0">
                <a:latin typeface="Times New Roman" panose="02020603050405020304" pitchFamily="18" charset="0"/>
              </a:rPr>
              <a:t> </a:t>
            </a:r>
            <a:r>
              <a:rPr lang="en-US" sz="3200" b="1" dirty="0" err="1">
                <a:latin typeface="Times New Roman" panose="02020603050405020304" pitchFamily="18" charset="0"/>
              </a:rPr>
              <a:t>thông</a:t>
            </a:r>
            <a:r>
              <a:rPr lang="en-US" sz="3200" b="1" dirty="0">
                <a:latin typeface="Times New Roman" panose="02020603050405020304" pitchFamily="18" charset="0"/>
              </a:rPr>
              <a:t>.</a:t>
            </a:r>
          </a:p>
          <a:p>
            <a:pPr marL="285750" indent="-285750">
              <a:buFontTx/>
              <a:buChar char="-"/>
            </a:pPr>
            <a:r>
              <a:rPr lang="en-US" sz="3200" b="1" dirty="0" err="1">
                <a:latin typeface="Times New Roman" panose="02020603050405020304" pitchFamily="18" charset="0"/>
              </a:rPr>
              <a:t>Kế</a:t>
            </a:r>
            <a:r>
              <a:rPr lang="en-US" sz="3200" b="1" dirty="0">
                <a:latin typeface="Times New Roman" panose="02020603050405020304" pitchFamily="18" charset="0"/>
              </a:rPr>
              <a:t> </a:t>
            </a:r>
            <a:r>
              <a:rPr lang="en-US" sz="3200" b="1" dirty="0" err="1">
                <a:latin typeface="Times New Roman" panose="02020603050405020304" pitchFamily="18" charset="0"/>
              </a:rPr>
              <a:t>hoạch</a:t>
            </a:r>
            <a:r>
              <a:rPr lang="en-US" sz="3200" b="1" dirty="0">
                <a:latin typeface="Times New Roman" panose="02020603050405020304" pitchFamily="18" charset="0"/>
              </a:rPr>
              <a:t> </a:t>
            </a:r>
            <a:r>
              <a:rPr lang="en-US" sz="3200" b="1" dirty="0" err="1">
                <a:latin typeface="Times New Roman" panose="02020603050405020304" pitchFamily="18" charset="0"/>
              </a:rPr>
              <a:t>số</a:t>
            </a:r>
            <a:r>
              <a:rPr lang="en-US" sz="3200" b="1" dirty="0">
                <a:latin typeface="Times New Roman" panose="02020603050405020304" pitchFamily="18" charset="0"/>
              </a:rPr>
              <a:t> 1428/KH-BGDĐT </a:t>
            </a:r>
            <a:r>
              <a:rPr lang="en-US" sz="3200" b="1" dirty="0" err="1">
                <a:latin typeface="Times New Roman" panose="02020603050405020304" pitchFamily="18" charset="0"/>
              </a:rPr>
              <a:t>ngày</a:t>
            </a:r>
            <a:r>
              <a:rPr lang="en-US" sz="3200" b="1" dirty="0">
                <a:latin typeface="Times New Roman" panose="02020603050405020304" pitchFamily="18" charset="0"/>
              </a:rPr>
              <a:t> 14/07/2026 </a:t>
            </a:r>
            <a:r>
              <a:rPr lang="en-US" sz="3200" b="1" dirty="0" err="1">
                <a:latin typeface="Times New Roman" panose="02020603050405020304" pitchFamily="18" charset="0"/>
              </a:rPr>
              <a:t>về</a:t>
            </a:r>
            <a:r>
              <a:rPr lang="en-US" sz="3200" b="1" dirty="0">
                <a:latin typeface="Times New Roman" panose="02020603050405020304" pitchFamily="18" charset="0"/>
              </a:rPr>
              <a:t> </a:t>
            </a:r>
            <a:r>
              <a:rPr lang="en-US" sz="3200" b="1" dirty="0" err="1">
                <a:latin typeface="Times New Roman" panose="02020603050405020304" pitchFamily="18" charset="0"/>
              </a:rPr>
              <a:t>việc</a:t>
            </a:r>
            <a:r>
              <a:rPr lang="en-US" sz="3200" b="1" dirty="0">
                <a:latin typeface="Times New Roman" panose="02020603050405020304" pitchFamily="18" charset="0"/>
              </a:rPr>
              <a:t> </a:t>
            </a:r>
            <a:r>
              <a:rPr lang="en-US" sz="3200" b="1" dirty="0" err="1">
                <a:latin typeface="Times New Roman" panose="02020603050405020304" pitchFamily="18" charset="0"/>
              </a:rPr>
              <a:t>tổ</a:t>
            </a:r>
            <a:r>
              <a:rPr lang="en-US" sz="3200" b="1" dirty="0">
                <a:latin typeface="Times New Roman" panose="02020603050405020304" pitchFamily="18" charset="0"/>
              </a:rPr>
              <a:t> </a:t>
            </a:r>
            <a:r>
              <a:rPr lang="en-US" sz="3200" b="1" dirty="0" err="1">
                <a:latin typeface="Times New Roman" panose="02020603050405020304" pitchFamily="18" charset="0"/>
              </a:rPr>
              <a:t>chức</a:t>
            </a:r>
            <a:r>
              <a:rPr lang="en-US" sz="3200" b="1" dirty="0">
                <a:latin typeface="Times New Roman" panose="02020603050405020304" pitchFamily="18" charset="0"/>
              </a:rPr>
              <a:t> </a:t>
            </a:r>
            <a:r>
              <a:rPr lang="en-US" sz="3200" b="1" dirty="0" err="1">
                <a:latin typeface="Times New Roman" panose="02020603050405020304" pitchFamily="18" charset="0"/>
              </a:rPr>
              <a:t>hướng</a:t>
            </a:r>
            <a:r>
              <a:rPr lang="en-US" sz="3200" b="1" dirty="0">
                <a:latin typeface="Times New Roman" panose="02020603050405020304" pitchFamily="18" charset="0"/>
              </a:rPr>
              <a:t> </a:t>
            </a:r>
            <a:r>
              <a:rPr lang="en-US" sz="3200" b="1" dirty="0" err="1">
                <a:latin typeface="Times New Roman" panose="02020603050405020304" pitchFamily="18" charset="0"/>
              </a:rPr>
              <a:t>dẫn</a:t>
            </a:r>
            <a:r>
              <a:rPr lang="en-US" sz="3200" b="1" dirty="0">
                <a:latin typeface="Times New Roman" panose="02020603050405020304" pitchFamily="18" charset="0"/>
              </a:rPr>
              <a:t> </a:t>
            </a:r>
            <a:r>
              <a:rPr lang="en-US" sz="3200" b="1" dirty="0" err="1">
                <a:latin typeface="Times New Roman" panose="02020603050405020304" pitchFamily="18" charset="0"/>
              </a:rPr>
              <a:t>triển</a:t>
            </a:r>
            <a:r>
              <a:rPr lang="en-US" sz="3200" b="1" dirty="0">
                <a:latin typeface="Times New Roman" panose="02020603050405020304" pitchFamily="18" charset="0"/>
              </a:rPr>
              <a:t> </a:t>
            </a:r>
            <a:r>
              <a:rPr lang="en-US" sz="3200" b="1" dirty="0" err="1">
                <a:latin typeface="Times New Roman" panose="02020603050405020304" pitchFamily="18" charset="0"/>
              </a:rPr>
              <a:t>khai</a:t>
            </a:r>
            <a:r>
              <a:rPr lang="en-US" sz="3200" b="1" dirty="0">
                <a:latin typeface="Times New Roman" panose="02020603050405020304" pitchFamily="18" charset="0"/>
              </a:rPr>
              <a:t> </a:t>
            </a:r>
            <a:r>
              <a:rPr lang="en-US" sz="3200" b="1" dirty="0" err="1">
                <a:latin typeface="Times New Roman" panose="02020603050405020304" pitchFamily="18" charset="0"/>
              </a:rPr>
              <a:t>dạy</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một</a:t>
            </a:r>
            <a:r>
              <a:rPr lang="en-US" sz="3200" b="1" dirty="0">
                <a:latin typeface="Times New Roman" panose="02020603050405020304" pitchFamily="18" charset="0"/>
              </a:rPr>
              <a:t> </a:t>
            </a:r>
            <a:r>
              <a:rPr lang="en-US" sz="3200" b="1" dirty="0" err="1">
                <a:latin typeface="Times New Roman" panose="02020603050405020304" pitchFamily="18" charset="0"/>
              </a:rPr>
              <a:t>số</a:t>
            </a:r>
            <a:r>
              <a:rPr lang="en-US" sz="3200" b="1" dirty="0">
                <a:latin typeface="Times New Roman" panose="02020603050405020304" pitchFamily="18" charset="0"/>
              </a:rPr>
              <a:t> </a:t>
            </a:r>
            <a:r>
              <a:rPr lang="en-US" sz="3200" b="1" dirty="0" err="1">
                <a:latin typeface="Times New Roman" panose="02020603050405020304" pitchFamily="18" charset="0"/>
              </a:rPr>
              <a:t>môn</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cấp</a:t>
            </a:r>
            <a:r>
              <a:rPr lang="en-US" sz="3200" b="1" dirty="0">
                <a:latin typeface="Times New Roman" panose="02020603050405020304" pitchFamily="18" charset="0"/>
              </a:rPr>
              <a:t> </a:t>
            </a:r>
            <a:r>
              <a:rPr lang="en-US" sz="3200" b="1" dirty="0" err="1">
                <a:latin typeface="Times New Roman" panose="02020603050405020304" pitchFamily="18" charset="0"/>
              </a:rPr>
              <a:t>trung</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sơ</a:t>
            </a:r>
            <a:r>
              <a:rPr lang="en-US" sz="3200" b="1" dirty="0">
                <a:latin typeface="Times New Roman" panose="02020603050405020304" pitchFamily="18" charset="0"/>
              </a:rPr>
              <a:t> </a:t>
            </a:r>
            <a:r>
              <a:rPr lang="en-US" sz="3200" b="1" dirty="0" err="1">
                <a:latin typeface="Times New Roman" panose="02020603050405020304" pitchFamily="18" charset="0"/>
              </a:rPr>
              <a:t>sở</a:t>
            </a:r>
            <a:r>
              <a:rPr lang="en-US" sz="3200" b="1" dirty="0">
                <a:latin typeface="Times New Roman" panose="02020603050405020304" pitchFamily="18" charset="0"/>
              </a:rPr>
              <a:t> </a:t>
            </a:r>
            <a:r>
              <a:rPr lang="en-US" sz="3200" b="1" dirty="0" err="1">
                <a:latin typeface="Times New Roman" panose="02020603050405020304" pitchFamily="18" charset="0"/>
              </a:rPr>
              <a:t>bằng</a:t>
            </a:r>
            <a:r>
              <a:rPr lang="en-US" sz="3200" b="1" dirty="0">
                <a:latin typeface="Times New Roman" panose="02020603050405020304" pitchFamily="18" charset="0"/>
              </a:rPr>
              <a:t> </a:t>
            </a:r>
            <a:r>
              <a:rPr lang="en-US" sz="3200" b="1" dirty="0" err="1">
                <a:latin typeface="Times New Roman" panose="02020603050405020304" pitchFamily="18" charset="0"/>
              </a:rPr>
              <a:t>tiếng</a:t>
            </a:r>
            <a:r>
              <a:rPr lang="en-US" sz="3200" b="1" dirty="0">
                <a:latin typeface="Times New Roman" panose="02020603050405020304" pitchFamily="18" charset="0"/>
              </a:rPr>
              <a:t> Anh</a:t>
            </a:r>
            <a:endParaRPr lang="en-US" sz="3200" dirty="0"/>
          </a:p>
        </p:txBody>
      </p:sp>
    </p:spTree>
    <p:extLst>
      <p:ext uri="{BB962C8B-B14F-4D97-AF65-F5344CB8AC3E}">
        <p14:creationId xmlns:p14="http://schemas.microsoft.com/office/powerpoint/2010/main" val="1521486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11A1C1-4C79-4D90-B0EB-8BC5D02ECB4A}"/>
              </a:ext>
            </a:extLst>
          </p:cNvPr>
          <p:cNvSpPr/>
          <p:nvPr/>
        </p:nvSpPr>
        <p:spPr>
          <a:xfrm>
            <a:off x="819714" y="266680"/>
            <a:ext cx="2648481" cy="523220"/>
          </a:xfrm>
          <a:prstGeom prst="rect">
            <a:avLst/>
          </a:prstGeom>
          <a:noFill/>
        </p:spPr>
        <p:txBody>
          <a:bodyPr wrap="none" lIns="91440" tIns="45720" rIns="91440" bIns="45720">
            <a:spAutoFit/>
          </a:bodyPr>
          <a:lstStyle/>
          <a:p>
            <a:pPr algn="ct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Một</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số</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mục</a:t>
            </a: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800" b="1" cap="none" spc="0" dirty="0" err="1">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tiêu</a:t>
            </a:r>
            <a:endPar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4FC7DD-AD62-4CD0-8CEB-0A310FD7C9C7}"/>
              </a:ext>
            </a:extLst>
          </p:cNvPr>
          <p:cNvSpPr txBox="1"/>
          <p:nvPr/>
        </p:nvSpPr>
        <p:spPr>
          <a:xfrm>
            <a:off x="672625" y="1097941"/>
            <a:ext cx="10846749" cy="3539430"/>
          </a:xfrm>
          <a:prstGeom prst="rect">
            <a:avLst/>
          </a:prstGeom>
          <a:noFill/>
        </p:spPr>
        <p:txBody>
          <a:bodyPr wrap="square">
            <a:spAutoFit/>
          </a:bodyPr>
          <a:lstStyle/>
          <a:p>
            <a:pPr marL="285750" indent="-285750">
              <a:buFontTx/>
              <a:buChar char="-"/>
            </a:pPr>
            <a:r>
              <a:rPr lang="en-US" sz="3200" b="1" dirty="0" err="1">
                <a:latin typeface="Times New Roman" panose="02020603050405020304" pitchFamily="18" charset="0"/>
              </a:rPr>
              <a:t>Đưa</a:t>
            </a:r>
            <a:r>
              <a:rPr lang="en-US" sz="3200" b="1" dirty="0">
                <a:latin typeface="Times New Roman" panose="02020603050405020304" pitchFamily="18" charset="0"/>
              </a:rPr>
              <a:t> </a:t>
            </a:r>
            <a:r>
              <a:rPr lang="en-US" sz="3200" b="1" dirty="0" err="1">
                <a:latin typeface="Times New Roman" panose="02020603050405020304" pitchFamily="18" charset="0"/>
              </a:rPr>
              <a:t>tiếng</a:t>
            </a:r>
            <a:r>
              <a:rPr lang="en-US" sz="3200" b="1" dirty="0">
                <a:latin typeface="Times New Roman" panose="02020603050405020304" pitchFamily="18" charset="0"/>
              </a:rPr>
              <a:t> Anh </a:t>
            </a:r>
            <a:r>
              <a:rPr lang="en-US" sz="3200" b="1" dirty="0" err="1">
                <a:latin typeface="Times New Roman" panose="02020603050405020304" pitchFamily="18" charset="0"/>
              </a:rPr>
              <a:t>thành</a:t>
            </a:r>
            <a:r>
              <a:rPr lang="en-US" sz="3200" b="1" dirty="0">
                <a:latin typeface="Times New Roman" panose="02020603050405020304" pitchFamily="18" charset="0"/>
              </a:rPr>
              <a:t> </a:t>
            </a:r>
            <a:r>
              <a:rPr lang="en-US" sz="3200" b="1" dirty="0" err="1">
                <a:latin typeface="Times New Roman" panose="02020603050405020304" pitchFamily="18" charset="0"/>
              </a:rPr>
              <a:t>ngôn</a:t>
            </a:r>
            <a:r>
              <a:rPr lang="en-US" sz="3200" b="1" dirty="0">
                <a:latin typeface="Times New Roman" panose="02020603050405020304" pitchFamily="18" charset="0"/>
              </a:rPr>
              <a:t> </a:t>
            </a:r>
            <a:r>
              <a:rPr lang="en-US" sz="3200" b="1" dirty="0" err="1">
                <a:latin typeface="Times New Roman" panose="02020603050405020304" pitchFamily="18" charset="0"/>
              </a:rPr>
              <a:t>ngữ</a:t>
            </a:r>
            <a:r>
              <a:rPr lang="en-US" sz="3200" b="1" dirty="0">
                <a:latin typeface="Times New Roman" panose="02020603050405020304" pitchFamily="18" charset="0"/>
              </a:rPr>
              <a:t> </a:t>
            </a:r>
            <a:r>
              <a:rPr lang="en-US" sz="3200" b="1" dirty="0" err="1">
                <a:latin typeface="Times New Roman" panose="02020603050405020304" pitchFamily="18" charset="0"/>
              </a:rPr>
              <a:t>thứ</a:t>
            </a:r>
            <a:r>
              <a:rPr lang="en-US" sz="3200" b="1" dirty="0">
                <a:latin typeface="Times New Roman" panose="02020603050405020304" pitchFamily="18" charset="0"/>
              </a:rPr>
              <a:t> </a:t>
            </a:r>
            <a:r>
              <a:rPr lang="en-US" sz="3200" b="1" dirty="0" err="1">
                <a:latin typeface="Times New Roman" panose="02020603050405020304" pitchFamily="18" charset="0"/>
              </a:rPr>
              <a:t>hai</a:t>
            </a:r>
            <a:r>
              <a:rPr lang="en-US" sz="3200" b="1" dirty="0">
                <a:latin typeface="Times New Roman" panose="02020603050405020304" pitchFamily="18" charset="0"/>
              </a:rPr>
              <a:t> </a:t>
            </a:r>
            <a:r>
              <a:rPr lang="en-US" sz="3200" b="1" dirty="0" err="1">
                <a:latin typeface="Times New Roman" panose="02020603050405020304" pitchFamily="18" charset="0"/>
              </a:rPr>
              <a:t>trong</a:t>
            </a:r>
            <a:r>
              <a:rPr lang="en-US" sz="3200" b="1" dirty="0">
                <a:latin typeface="Times New Roman" panose="02020603050405020304" pitchFamily="18" charset="0"/>
              </a:rPr>
              <a:t> </a:t>
            </a:r>
            <a:r>
              <a:rPr lang="en-US" sz="3200" b="1" dirty="0" err="1">
                <a:latin typeface="Times New Roman" panose="02020603050405020304" pitchFamily="18" charset="0"/>
              </a:rPr>
              <a:t>trường</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trên</a:t>
            </a:r>
            <a:r>
              <a:rPr lang="en-US" sz="3200" b="1" dirty="0">
                <a:latin typeface="Times New Roman" panose="02020603050405020304" pitchFamily="18" charset="0"/>
              </a:rPr>
              <a:t> </a:t>
            </a:r>
            <a:r>
              <a:rPr lang="en-US" sz="3200" b="1" dirty="0" err="1">
                <a:latin typeface="Times New Roman" panose="02020603050405020304" pitchFamily="18" charset="0"/>
              </a:rPr>
              <a:t>địa</a:t>
            </a:r>
            <a:r>
              <a:rPr lang="en-US" sz="3200" b="1" dirty="0">
                <a:latin typeface="Times New Roman" panose="02020603050405020304" pitchFamily="18" charset="0"/>
              </a:rPr>
              <a:t> </a:t>
            </a:r>
            <a:r>
              <a:rPr lang="en-US" sz="3200" b="1" dirty="0" err="1">
                <a:latin typeface="Times New Roman" panose="02020603050405020304" pitchFamily="18" charset="0"/>
              </a:rPr>
              <a:t>bàn</a:t>
            </a:r>
            <a:r>
              <a:rPr lang="en-US" sz="3200" b="1" dirty="0">
                <a:latin typeface="Times New Roman" panose="02020603050405020304" pitchFamily="18" charset="0"/>
              </a:rPr>
              <a:t> TPHCM </a:t>
            </a:r>
            <a:r>
              <a:rPr lang="en-US" sz="3200" b="1" dirty="0" err="1">
                <a:latin typeface="Times New Roman" panose="02020603050405020304" pitchFamily="18" charset="0"/>
              </a:rPr>
              <a:t>giai</a:t>
            </a:r>
            <a:r>
              <a:rPr lang="en-US" sz="3200" b="1" dirty="0">
                <a:latin typeface="Times New Roman" panose="02020603050405020304" pitchFamily="18" charset="0"/>
              </a:rPr>
              <a:t> </a:t>
            </a:r>
            <a:r>
              <a:rPr lang="en-US" sz="3200" b="1" dirty="0" err="1">
                <a:latin typeface="Times New Roman" panose="02020603050405020304" pitchFamily="18" charset="0"/>
              </a:rPr>
              <a:t>đoạn</a:t>
            </a:r>
            <a:r>
              <a:rPr lang="en-US" sz="3200" b="1" dirty="0">
                <a:latin typeface="Times New Roman" panose="02020603050405020304" pitchFamily="18" charset="0"/>
              </a:rPr>
              <a:t> 2026-2035, </a:t>
            </a:r>
            <a:r>
              <a:rPr lang="en-US" sz="3200" b="1" dirty="0" err="1">
                <a:latin typeface="Times New Roman" panose="02020603050405020304" pitchFamily="18" charset="0"/>
              </a:rPr>
              <a:t>tầm</a:t>
            </a:r>
            <a:r>
              <a:rPr lang="en-US" sz="3200" b="1" dirty="0">
                <a:latin typeface="Times New Roman" panose="02020603050405020304" pitchFamily="18" charset="0"/>
              </a:rPr>
              <a:t> </a:t>
            </a:r>
            <a:r>
              <a:rPr lang="en-US" sz="3200" b="1" dirty="0" err="1">
                <a:latin typeface="Times New Roman" panose="02020603050405020304" pitchFamily="18" charset="0"/>
              </a:rPr>
              <a:t>nhìn</a:t>
            </a:r>
            <a:r>
              <a:rPr lang="en-US" sz="3200" b="1" dirty="0">
                <a:latin typeface="Times New Roman" panose="02020603050405020304" pitchFamily="18" charset="0"/>
              </a:rPr>
              <a:t> </a:t>
            </a:r>
            <a:r>
              <a:rPr lang="en-US" sz="3200" b="1" dirty="0" err="1">
                <a:latin typeface="Times New Roman" panose="02020603050405020304" pitchFamily="18" charset="0"/>
              </a:rPr>
              <a:t>đến</a:t>
            </a:r>
            <a:r>
              <a:rPr lang="en-US" sz="3200" b="1" dirty="0">
                <a:latin typeface="Times New Roman" panose="02020603050405020304" pitchFamily="18" charset="0"/>
              </a:rPr>
              <a:t> </a:t>
            </a:r>
            <a:r>
              <a:rPr lang="en-US" sz="3200" b="1" dirty="0" err="1">
                <a:latin typeface="Times New Roman" panose="02020603050405020304" pitchFamily="18" charset="0"/>
              </a:rPr>
              <a:t>năm</a:t>
            </a:r>
            <a:r>
              <a:rPr lang="en-US" sz="3200" b="1" dirty="0">
                <a:latin typeface="Times New Roman" panose="02020603050405020304" pitchFamily="18" charset="0"/>
              </a:rPr>
              <a:t> 2045.</a:t>
            </a:r>
          </a:p>
          <a:p>
            <a:pPr marL="285750" indent="-285750">
              <a:buFontTx/>
              <a:buChar char="-"/>
            </a:pPr>
            <a:endParaRPr lang="en-US" sz="3200" b="1" dirty="0">
              <a:latin typeface="Times New Roman" panose="02020603050405020304" pitchFamily="18" charset="0"/>
            </a:endParaRPr>
          </a:p>
          <a:p>
            <a:pPr marL="285750" indent="-285750">
              <a:buFontTx/>
              <a:buChar char="-"/>
            </a:pPr>
            <a:r>
              <a:rPr lang="en-US" sz="3200" b="1" dirty="0" err="1">
                <a:latin typeface="Times New Roman" panose="02020603050405020304" pitchFamily="18" charset="0"/>
              </a:rPr>
              <a:t>Từng</a:t>
            </a:r>
            <a:r>
              <a:rPr lang="en-US" sz="3200" b="1" dirty="0">
                <a:latin typeface="Times New Roman" panose="02020603050405020304" pitchFamily="18" charset="0"/>
              </a:rPr>
              <a:t> </a:t>
            </a:r>
            <a:r>
              <a:rPr lang="en-US" sz="3200" b="1" dirty="0" err="1">
                <a:latin typeface="Times New Roman" panose="02020603050405020304" pitchFamily="18" charset="0"/>
              </a:rPr>
              <a:t>bước</a:t>
            </a:r>
            <a:r>
              <a:rPr lang="en-US" sz="3200" b="1" dirty="0">
                <a:latin typeface="Times New Roman" panose="02020603050405020304" pitchFamily="18" charset="0"/>
              </a:rPr>
              <a:t> </a:t>
            </a:r>
            <a:r>
              <a:rPr lang="en-US" sz="3200" b="1" dirty="0" err="1">
                <a:latin typeface="Times New Roman" panose="02020603050405020304" pitchFamily="18" charset="0"/>
              </a:rPr>
              <a:t>xây</a:t>
            </a:r>
            <a:r>
              <a:rPr lang="en-US" sz="3200" b="1" dirty="0">
                <a:latin typeface="Times New Roman" panose="02020603050405020304" pitchFamily="18" charset="0"/>
              </a:rPr>
              <a:t> </a:t>
            </a:r>
            <a:r>
              <a:rPr lang="en-US" sz="3200" b="1" dirty="0" err="1">
                <a:latin typeface="Times New Roman" panose="02020603050405020304" pitchFamily="18" charset="0"/>
              </a:rPr>
              <a:t>dựng</a:t>
            </a:r>
            <a:r>
              <a:rPr lang="en-US" sz="3200" b="1" dirty="0">
                <a:latin typeface="Times New Roman" panose="02020603050405020304" pitchFamily="18" charset="0"/>
              </a:rPr>
              <a:t>, </a:t>
            </a:r>
            <a:r>
              <a:rPr lang="en-US" sz="3200" b="1" dirty="0" err="1">
                <a:latin typeface="Times New Roman" panose="02020603050405020304" pitchFamily="18" charset="0"/>
              </a:rPr>
              <a:t>hướng</a:t>
            </a:r>
            <a:r>
              <a:rPr lang="en-US" sz="3200" b="1" dirty="0">
                <a:latin typeface="Times New Roman" panose="02020603050405020304" pitchFamily="18" charset="0"/>
              </a:rPr>
              <a:t> </a:t>
            </a:r>
            <a:r>
              <a:rPr lang="en-US" sz="3200" b="1" dirty="0" err="1">
                <a:latin typeface="Times New Roman" panose="02020603050405020304" pitchFamily="18" charset="0"/>
              </a:rPr>
              <a:t>dẫn</a:t>
            </a:r>
            <a:r>
              <a:rPr lang="en-US" sz="3200" b="1" dirty="0">
                <a:latin typeface="Times New Roman" panose="02020603050405020304" pitchFamily="18" charset="0"/>
              </a:rPr>
              <a:t> </a:t>
            </a:r>
            <a:r>
              <a:rPr lang="en-US" sz="3200" b="1" dirty="0" err="1">
                <a:latin typeface="Times New Roman" panose="02020603050405020304" pitchFamily="18" charset="0"/>
              </a:rPr>
              <a:t>dạy</a:t>
            </a:r>
            <a:r>
              <a:rPr lang="en-US" sz="3200" b="1" dirty="0">
                <a:latin typeface="Times New Roman" panose="02020603050405020304" pitchFamily="18" charset="0"/>
              </a:rPr>
              <a:t>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bằng</a:t>
            </a:r>
            <a:r>
              <a:rPr lang="en-US" sz="3200" b="1" dirty="0">
                <a:latin typeface="Times New Roman" panose="02020603050405020304" pitchFamily="18" charset="0"/>
              </a:rPr>
              <a:t> </a:t>
            </a:r>
            <a:r>
              <a:rPr lang="en-US" sz="3200" b="1" dirty="0" err="1">
                <a:latin typeface="Times New Roman" panose="02020603050405020304" pitchFamily="18" charset="0"/>
              </a:rPr>
              <a:t>tiếng</a:t>
            </a:r>
            <a:r>
              <a:rPr lang="en-US" sz="3200" b="1" dirty="0">
                <a:latin typeface="Times New Roman" panose="02020603050405020304" pitchFamily="18" charset="0"/>
              </a:rPr>
              <a:t> Anh </a:t>
            </a:r>
            <a:r>
              <a:rPr lang="en-US" sz="3200" b="1" dirty="0" err="1">
                <a:latin typeface="Times New Roman" panose="02020603050405020304" pitchFamily="18" charset="0"/>
              </a:rPr>
              <a:t>đối</a:t>
            </a:r>
            <a:r>
              <a:rPr lang="en-US" sz="3200" b="1" dirty="0">
                <a:latin typeface="Times New Roman" panose="02020603050405020304" pitchFamily="18" charset="0"/>
              </a:rPr>
              <a:t> </a:t>
            </a:r>
            <a:r>
              <a:rPr lang="en-US" sz="3200" b="1" dirty="0" err="1">
                <a:latin typeface="Times New Roman" panose="02020603050405020304" pitchFamily="18" charset="0"/>
              </a:rPr>
              <a:t>với</a:t>
            </a:r>
            <a:r>
              <a:rPr lang="en-US" sz="3200" b="1" dirty="0">
                <a:latin typeface="Times New Roman" panose="02020603050405020304" pitchFamily="18" charset="0"/>
              </a:rPr>
              <a:t> </a:t>
            </a:r>
            <a:r>
              <a:rPr lang="en-US" sz="3200" b="1" dirty="0" err="1">
                <a:latin typeface="Times New Roman" panose="02020603050405020304" pitchFamily="18" charset="0"/>
              </a:rPr>
              <a:t>môn</a:t>
            </a:r>
            <a:r>
              <a:rPr lang="en-US" sz="3200" b="1" dirty="0">
                <a:latin typeface="Times New Roman" panose="02020603050405020304" pitchFamily="18" charset="0"/>
              </a:rPr>
              <a:t> </a:t>
            </a:r>
            <a:r>
              <a:rPr lang="en-US" sz="3200" b="1" dirty="0" err="1">
                <a:latin typeface="Times New Roman" panose="02020603050405020304" pitchFamily="18" charset="0"/>
              </a:rPr>
              <a:t>Toán</a:t>
            </a:r>
            <a:r>
              <a:rPr lang="en-US" sz="3200" b="1" dirty="0">
                <a:latin typeface="Times New Roman" panose="02020603050405020304" pitchFamily="18" charset="0"/>
              </a:rPr>
              <a:t> </a:t>
            </a:r>
            <a:r>
              <a:rPr lang="en-US" sz="3200" b="1" dirty="0" err="1">
                <a:latin typeface="Times New Roman" panose="02020603050405020304" pitchFamily="18" charset="0"/>
              </a:rPr>
              <a:t>và</a:t>
            </a:r>
            <a:r>
              <a:rPr lang="en-US" sz="3200" b="1" dirty="0">
                <a:latin typeface="Times New Roman" panose="02020603050405020304" pitchFamily="18" charset="0"/>
              </a:rPr>
              <a:t> </a:t>
            </a:r>
            <a:r>
              <a:rPr lang="en-US" sz="3200" b="1" dirty="0" err="1">
                <a:latin typeface="Times New Roman" panose="02020603050405020304" pitchFamily="18" charset="0"/>
              </a:rPr>
              <a:t>môn</a:t>
            </a:r>
            <a:r>
              <a:rPr lang="en-US" sz="3200" b="1" dirty="0">
                <a:latin typeface="Times New Roman" panose="02020603050405020304" pitchFamily="18" charset="0"/>
              </a:rPr>
              <a:t> KHTN </a:t>
            </a:r>
            <a:r>
              <a:rPr lang="en-US" sz="3200" b="1" dirty="0" err="1">
                <a:latin typeface="Times New Roman" panose="02020603050405020304" pitchFamily="18" charset="0"/>
              </a:rPr>
              <a:t>cấp</a:t>
            </a:r>
            <a:r>
              <a:rPr lang="en-US" sz="3200" b="1" dirty="0">
                <a:latin typeface="Times New Roman" panose="02020603050405020304" pitchFamily="18" charset="0"/>
              </a:rPr>
              <a:t> THCS, </a:t>
            </a:r>
            <a:r>
              <a:rPr lang="en-US" sz="3200" b="1" dirty="0" err="1">
                <a:latin typeface="Times New Roman" panose="02020603050405020304" pitchFamily="18" charset="0"/>
              </a:rPr>
              <a:t>đảm</a:t>
            </a:r>
            <a:r>
              <a:rPr lang="en-US" sz="3200" b="1" dirty="0">
                <a:latin typeface="Times New Roman" panose="02020603050405020304" pitchFamily="18" charset="0"/>
              </a:rPr>
              <a:t> </a:t>
            </a:r>
            <a:r>
              <a:rPr lang="en-US" sz="3200" b="1" dirty="0" err="1">
                <a:latin typeface="Times New Roman" panose="02020603050405020304" pitchFamily="18" charset="0"/>
              </a:rPr>
              <a:t>bảo</a:t>
            </a:r>
            <a:r>
              <a:rPr lang="en-US" sz="3200" b="1" dirty="0">
                <a:latin typeface="Times New Roman" panose="02020603050405020304" pitchFamily="18" charset="0"/>
              </a:rPr>
              <a:t> </a:t>
            </a:r>
            <a:r>
              <a:rPr lang="en-US" sz="3200" b="1" dirty="0" err="1">
                <a:latin typeface="Times New Roman" panose="02020603050405020304" pitchFamily="18" charset="0"/>
              </a:rPr>
              <a:t>tính</a:t>
            </a:r>
            <a:r>
              <a:rPr lang="en-US" sz="3200" b="1" dirty="0">
                <a:latin typeface="Times New Roman" panose="02020603050405020304" pitchFamily="18" charset="0"/>
              </a:rPr>
              <a:t> khoa </a:t>
            </a:r>
            <a:r>
              <a:rPr lang="en-US" sz="3200" b="1" dirty="0" err="1">
                <a:latin typeface="Times New Roman" panose="02020603050405020304" pitchFamily="18" charset="0"/>
              </a:rPr>
              <a:t>học</a:t>
            </a:r>
            <a:r>
              <a:rPr lang="en-US" sz="3200" b="1" dirty="0">
                <a:latin typeface="Times New Roman" panose="02020603050405020304" pitchFamily="18" charset="0"/>
              </a:rPr>
              <a:t>, </a:t>
            </a:r>
            <a:r>
              <a:rPr lang="en-US" sz="3200" b="1" dirty="0" err="1">
                <a:latin typeface="Times New Roman" panose="02020603050405020304" pitchFamily="18" charset="0"/>
              </a:rPr>
              <a:t>sư</a:t>
            </a:r>
            <a:r>
              <a:rPr lang="en-US" sz="3200" b="1" dirty="0">
                <a:latin typeface="Times New Roman" panose="02020603050405020304" pitchFamily="18" charset="0"/>
              </a:rPr>
              <a:t> </a:t>
            </a:r>
            <a:r>
              <a:rPr lang="en-US" sz="3200" b="1" dirty="0" err="1">
                <a:latin typeface="Times New Roman" panose="02020603050405020304" pitchFamily="18" charset="0"/>
              </a:rPr>
              <a:t>phạm</a:t>
            </a:r>
            <a:r>
              <a:rPr lang="en-US" sz="3200" b="1" dirty="0">
                <a:latin typeface="Times New Roman" panose="02020603050405020304" pitchFamily="18" charset="0"/>
              </a:rPr>
              <a:t>, </a:t>
            </a:r>
            <a:r>
              <a:rPr lang="en-US" sz="3200" b="1" dirty="0" err="1">
                <a:latin typeface="Times New Roman" panose="02020603050405020304" pitchFamily="18" charset="0"/>
              </a:rPr>
              <a:t>phù</a:t>
            </a:r>
            <a:r>
              <a:rPr lang="en-US" sz="3200" b="1" dirty="0">
                <a:latin typeface="Times New Roman" panose="02020603050405020304" pitchFamily="18" charset="0"/>
              </a:rPr>
              <a:t> </a:t>
            </a:r>
            <a:r>
              <a:rPr lang="en-US" sz="3200" b="1" dirty="0" err="1">
                <a:latin typeface="Times New Roman" panose="02020603050405020304" pitchFamily="18" charset="0"/>
              </a:rPr>
              <a:t>hợp</a:t>
            </a:r>
            <a:r>
              <a:rPr lang="en-US" sz="3200" b="1" dirty="0">
                <a:latin typeface="Times New Roman" panose="02020603050405020304" pitchFamily="18" charset="0"/>
              </a:rPr>
              <a:t> </a:t>
            </a:r>
            <a:r>
              <a:rPr lang="en-US" sz="3200" b="1" dirty="0" err="1">
                <a:latin typeface="Times New Roman" panose="02020603050405020304" pitchFamily="18" charset="0"/>
              </a:rPr>
              <a:t>với</a:t>
            </a:r>
            <a:r>
              <a:rPr lang="en-US" sz="3200" b="1" dirty="0">
                <a:latin typeface="Times New Roman" panose="02020603050405020304" pitchFamily="18" charset="0"/>
              </a:rPr>
              <a:t> </a:t>
            </a:r>
            <a:r>
              <a:rPr lang="en-US" sz="3200" b="1" dirty="0" err="1">
                <a:latin typeface="Times New Roman" panose="02020603050405020304" pitchFamily="18" charset="0"/>
              </a:rPr>
              <a:t>chương</a:t>
            </a:r>
            <a:r>
              <a:rPr lang="en-US" sz="3200" b="1" dirty="0">
                <a:latin typeface="Times New Roman" panose="02020603050405020304" pitchFamily="18" charset="0"/>
              </a:rPr>
              <a:t> </a:t>
            </a:r>
            <a:r>
              <a:rPr lang="en-US" sz="3200" b="1" dirty="0" err="1">
                <a:latin typeface="Times New Roman" panose="02020603050405020304" pitchFamily="18" charset="0"/>
              </a:rPr>
              <a:t>trình</a:t>
            </a:r>
            <a:r>
              <a:rPr lang="en-US" sz="3200" b="1" dirty="0">
                <a:latin typeface="Times New Roman" panose="02020603050405020304" pitchFamily="18" charset="0"/>
              </a:rPr>
              <a:t> GDPT 2018</a:t>
            </a:r>
            <a:endParaRPr lang="en-US" sz="3200" dirty="0"/>
          </a:p>
        </p:txBody>
      </p:sp>
    </p:spTree>
    <p:extLst>
      <p:ext uri="{BB962C8B-B14F-4D97-AF65-F5344CB8AC3E}">
        <p14:creationId xmlns:p14="http://schemas.microsoft.com/office/powerpoint/2010/main" val="1609371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11A1C1-4C79-4D90-B0EB-8BC5D02ECB4A}"/>
              </a:ext>
            </a:extLst>
          </p:cNvPr>
          <p:cNvSpPr/>
          <p:nvPr/>
        </p:nvSpPr>
        <p:spPr>
          <a:xfrm>
            <a:off x="1401785" y="574721"/>
            <a:ext cx="8816645" cy="523220"/>
          </a:xfrm>
          <a:prstGeom prst="rect">
            <a:avLst/>
          </a:prstGeom>
          <a:noFill/>
        </p:spPr>
        <p:txBody>
          <a:bodyPr wrap="none" lIns="91440" tIns="45720" rIns="91440" bIns="45720">
            <a:spAutoFit/>
          </a:bodyPr>
          <a:lstStyle/>
          <a:p>
            <a:pPr algn="ct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NĂNG LỰC TOÁN HỌC VÀ NĂNG LỰC NGÔN NGỮ</a:t>
            </a:r>
          </a:p>
        </p:txBody>
      </p:sp>
      <p:sp>
        <p:nvSpPr>
          <p:cNvPr id="2" name="Flowchart: Preparation 1">
            <a:extLst>
              <a:ext uri="{FF2B5EF4-FFF2-40B4-BE49-F238E27FC236}">
                <a16:creationId xmlns:a16="http://schemas.microsoft.com/office/drawing/2014/main" id="{2576DAE5-A913-4404-A9B7-403BF778CDFA}"/>
              </a:ext>
            </a:extLst>
          </p:cNvPr>
          <p:cNvSpPr/>
          <p:nvPr/>
        </p:nvSpPr>
        <p:spPr>
          <a:xfrm>
            <a:off x="1015067" y="1967524"/>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TƯ DUY VÀ LẬP LUẬN</a:t>
            </a:r>
          </a:p>
        </p:txBody>
      </p:sp>
      <p:sp>
        <p:nvSpPr>
          <p:cNvPr id="5" name="Flowchart: Preparation 4">
            <a:extLst>
              <a:ext uri="{FF2B5EF4-FFF2-40B4-BE49-F238E27FC236}">
                <a16:creationId xmlns:a16="http://schemas.microsoft.com/office/drawing/2014/main" id="{9523D4CA-7CBC-4DF8-A842-A4EA83E38D40}"/>
              </a:ext>
            </a:extLst>
          </p:cNvPr>
          <p:cNvSpPr/>
          <p:nvPr/>
        </p:nvSpPr>
        <p:spPr>
          <a:xfrm>
            <a:off x="4841845" y="1967524"/>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MÔ HÌNH HÓA</a:t>
            </a:r>
          </a:p>
        </p:txBody>
      </p:sp>
      <p:sp>
        <p:nvSpPr>
          <p:cNvPr id="6" name="Flowchart: Preparation 5">
            <a:extLst>
              <a:ext uri="{FF2B5EF4-FFF2-40B4-BE49-F238E27FC236}">
                <a16:creationId xmlns:a16="http://schemas.microsoft.com/office/drawing/2014/main" id="{9A062123-7522-421C-A22C-EC6B58DF9F21}"/>
              </a:ext>
            </a:extLst>
          </p:cNvPr>
          <p:cNvSpPr/>
          <p:nvPr/>
        </p:nvSpPr>
        <p:spPr>
          <a:xfrm>
            <a:off x="8668623" y="1967524"/>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GIẢI QUYẾT VẤN ĐỀ</a:t>
            </a:r>
          </a:p>
        </p:txBody>
      </p:sp>
      <p:sp>
        <p:nvSpPr>
          <p:cNvPr id="7" name="Flowchart: Preparation 6">
            <a:extLst>
              <a:ext uri="{FF2B5EF4-FFF2-40B4-BE49-F238E27FC236}">
                <a16:creationId xmlns:a16="http://schemas.microsoft.com/office/drawing/2014/main" id="{D3A53420-F224-4AF4-835B-87A193BDD68B}"/>
              </a:ext>
            </a:extLst>
          </p:cNvPr>
          <p:cNvSpPr/>
          <p:nvPr/>
        </p:nvSpPr>
        <p:spPr>
          <a:xfrm>
            <a:off x="2928456" y="4234345"/>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GIAO TIẾP TOÁN HỌC</a:t>
            </a:r>
          </a:p>
        </p:txBody>
      </p:sp>
      <p:sp>
        <p:nvSpPr>
          <p:cNvPr id="8" name="Flowchart: Preparation 7">
            <a:extLst>
              <a:ext uri="{FF2B5EF4-FFF2-40B4-BE49-F238E27FC236}">
                <a16:creationId xmlns:a16="http://schemas.microsoft.com/office/drawing/2014/main" id="{6D24C34E-2199-412A-8769-0ED853D91EA9}"/>
              </a:ext>
            </a:extLst>
          </p:cNvPr>
          <p:cNvSpPr/>
          <p:nvPr/>
        </p:nvSpPr>
        <p:spPr>
          <a:xfrm>
            <a:off x="6931403" y="4234345"/>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SỬ DỤNG CÔNG CỤ, PHƯƠNG TIỆN</a:t>
            </a:r>
          </a:p>
        </p:txBody>
      </p:sp>
    </p:spTree>
    <p:extLst>
      <p:ext uri="{BB962C8B-B14F-4D97-AF65-F5344CB8AC3E}">
        <p14:creationId xmlns:p14="http://schemas.microsoft.com/office/powerpoint/2010/main" val="944899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11A1C1-4C79-4D90-B0EB-8BC5D02ECB4A}"/>
              </a:ext>
            </a:extLst>
          </p:cNvPr>
          <p:cNvSpPr/>
          <p:nvPr/>
        </p:nvSpPr>
        <p:spPr>
          <a:xfrm>
            <a:off x="1401785" y="574721"/>
            <a:ext cx="8816645" cy="523220"/>
          </a:xfrm>
          <a:prstGeom prst="rect">
            <a:avLst/>
          </a:prstGeom>
          <a:noFill/>
        </p:spPr>
        <p:txBody>
          <a:bodyPr wrap="none" lIns="91440" tIns="45720" rIns="91440" bIns="45720">
            <a:spAutoFit/>
          </a:bodyPr>
          <a:lstStyle/>
          <a:p>
            <a:pPr algn="ctr"/>
            <a:r>
              <a:rPr lang="en-US" sz="2800" b="1" cap="none" spc="0" dirty="0">
                <a:ln w="0"/>
                <a:solidFill>
                  <a:srgbClr val="FFFF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NĂNG LỰC TOÁN HỌC VÀ NĂNG LỰC NGÔN NGỮ</a:t>
            </a:r>
          </a:p>
        </p:txBody>
      </p:sp>
      <p:sp>
        <p:nvSpPr>
          <p:cNvPr id="2" name="Flowchart: Preparation 1">
            <a:extLst>
              <a:ext uri="{FF2B5EF4-FFF2-40B4-BE49-F238E27FC236}">
                <a16:creationId xmlns:a16="http://schemas.microsoft.com/office/drawing/2014/main" id="{2576DAE5-A913-4404-A9B7-403BF778CDFA}"/>
              </a:ext>
            </a:extLst>
          </p:cNvPr>
          <p:cNvSpPr/>
          <p:nvPr/>
        </p:nvSpPr>
        <p:spPr>
          <a:xfrm>
            <a:off x="-3429933" y="1789724"/>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TƯ DUY VÀ LẬP LUẬN</a:t>
            </a:r>
          </a:p>
        </p:txBody>
      </p:sp>
      <p:sp>
        <p:nvSpPr>
          <p:cNvPr id="5" name="Flowchart: Preparation 4">
            <a:extLst>
              <a:ext uri="{FF2B5EF4-FFF2-40B4-BE49-F238E27FC236}">
                <a16:creationId xmlns:a16="http://schemas.microsoft.com/office/drawing/2014/main" id="{9523D4CA-7CBC-4DF8-A842-A4EA83E38D40}"/>
              </a:ext>
            </a:extLst>
          </p:cNvPr>
          <p:cNvSpPr/>
          <p:nvPr/>
        </p:nvSpPr>
        <p:spPr>
          <a:xfrm>
            <a:off x="2720595" y="7324698"/>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MÔ HÌNH HÓA</a:t>
            </a:r>
          </a:p>
        </p:txBody>
      </p:sp>
      <p:sp>
        <p:nvSpPr>
          <p:cNvPr id="6" name="Flowchart: Preparation 5">
            <a:extLst>
              <a:ext uri="{FF2B5EF4-FFF2-40B4-BE49-F238E27FC236}">
                <a16:creationId xmlns:a16="http://schemas.microsoft.com/office/drawing/2014/main" id="{9A062123-7522-421C-A22C-EC6B58DF9F21}"/>
              </a:ext>
            </a:extLst>
          </p:cNvPr>
          <p:cNvSpPr/>
          <p:nvPr/>
        </p:nvSpPr>
        <p:spPr>
          <a:xfrm>
            <a:off x="12859623" y="636546"/>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GIẢI QUYẾT VẤN ĐỀ</a:t>
            </a:r>
          </a:p>
        </p:txBody>
      </p:sp>
      <p:sp>
        <p:nvSpPr>
          <p:cNvPr id="7" name="Flowchart: Preparation 6">
            <a:extLst>
              <a:ext uri="{FF2B5EF4-FFF2-40B4-BE49-F238E27FC236}">
                <a16:creationId xmlns:a16="http://schemas.microsoft.com/office/drawing/2014/main" id="{D3A53420-F224-4AF4-835B-87A193BDD68B}"/>
              </a:ext>
            </a:extLst>
          </p:cNvPr>
          <p:cNvSpPr/>
          <p:nvPr/>
        </p:nvSpPr>
        <p:spPr>
          <a:xfrm>
            <a:off x="3724828" y="1789724"/>
            <a:ext cx="4742344" cy="1728134"/>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Times New Roman" panose="02020603050405020304" pitchFamily="18" charset="0"/>
                <a:cs typeface="Times New Roman" panose="02020603050405020304" pitchFamily="18" charset="0"/>
              </a:rPr>
              <a:t>GIAO TIẾP TOÁN HỌC</a:t>
            </a:r>
          </a:p>
        </p:txBody>
      </p:sp>
      <p:sp>
        <p:nvSpPr>
          <p:cNvPr id="8" name="Flowchart: Preparation 7">
            <a:extLst>
              <a:ext uri="{FF2B5EF4-FFF2-40B4-BE49-F238E27FC236}">
                <a16:creationId xmlns:a16="http://schemas.microsoft.com/office/drawing/2014/main" id="{6D24C34E-2199-412A-8769-0ED853D91EA9}"/>
              </a:ext>
            </a:extLst>
          </p:cNvPr>
          <p:cNvSpPr/>
          <p:nvPr/>
        </p:nvSpPr>
        <p:spPr>
          <a:xfrm>
            <a:off x="10218430" y="7409783"/>
            <a:ext cx="2432808" cy="922789"/>
          </a:xfrm>
          <a:prstGeom prst="flowChartPreparat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Times New Roman" panose="02020603050405020304" pitchFamily="18" charset="0"/>
                <a:cs typeface="Times New Roman" panose="02020603050405020304" pitchFamily="18" charset="0"/>
              </a:rPr>
              <a:t>SỬ DỤNG CÔNG CỤ, PHƯƠNG TIỆN</a:t>
            </a:r>
          </a:p>
        </p:txBody>
      </p:sp>
      <p:sp>
        <p:nvSpPr>
          <p:cNvPr id="9" name="TextBox 8">
            <a:extLst>
              <a:ext uri="{FF2B5EF4-FFF2-40B4-BE49-F238E27FC236}">
                <a16:creationId xmlns:a16="http://schemas.microsoft.com/office/drawing/2014/main" id="{D9EF099F-BF1B-4611-AA0D-58ABC05F8280}"/>
              </a:ext>
            </a:extLst>
          </p:cNvPr>
          <p:cNvSpPr txBox="1"/>
          <p:nvPr/>
        </p:nvSpPr>
        <p:spPr>
          <a:xfrm>
            <a:off x="467103" y="3969805"/>
            <a:ext cx="9372600" cy="2554545"/>
          </a:xfrm>
          <a:prstGeom prst="rect">
            <a:avLst/>
          </a:prstGeom>
          <a:noFill/>
        </p:spPr>
        <p:txBody>
          <a:bodyPr wrap="square">
            <a:spAutoFit/>
          </a:bodyPr>
          <a:lstStyle/>
          <a:p>
            <a:pPr marL="285750" indent="-285750">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Đọc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yêu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cầu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đề</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bài</a:t>
            </a:r>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được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thuật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toán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học</a:t>
            </a:r>
            <a:r>
              <a:rPr lang="en-US" sz="32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Mô</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tóm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tắt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giải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lập</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luận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bày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sử</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những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ngôn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ngữ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toán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học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được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học</a:t>
            </a:r>
            <a:r>
              <a:rPr lang="en-US" sz="3200" dirty="0">
                <a:latin typeface="Times New Roman" panose="02020603050405020304" pitchFamily="18" charset="0"/>
                <a:cs typeface="Times New Roman" panose="02020603050405020304" pitchFamily="18" charset="0"/>
              </a:rPr>
              <a:t>.</a:t>
            </a:r>
          </a:p>
        </p:txBody>
      </p:sp>
      <p:sp>
        <p:nvSpPr>
          <p:cNvPr id="10" name="Rectangle: Rounded Corners 9">
            <a:extLst>
              <a:ext uri="{FF2B5EF4-FFF2-40B4-BE49-F238E27FC236}">
                <a16:creationId xmlns:a16="http://schemas.microsoft.com/office/drawing/2014/main" id="{524FDF2E-EF77-4177-9FEA-B70CF20CF2B9}"/>
              </a:ext>
            </a:extLst>
          </p:cNvPr>
          <p:cNvSpPr/>
          <p:nvPr/>
        </p:nvSpPr>
        <p:spPr>
          <a:xfrm>
            <a:off x="9443568" y="3969805"/>
            <a:ext cx="2519916" cy="2186266"/>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err="1">
                <a:solidFill>
                  <a:schemeClr val="bg1">
                    <a:lumMod val="95000"/>
                    <a:lumOff val="5000"/>
                  </a:schemeClr>
                </a:solidFill>
                <a:latin typeface="Times New Roman" panose="02020603050405020304" pitchFamily="18" charset="0"/>
                <a:cs typeface="Times New Roman" panose="02020603050405020304" pitchFamily="18" charset="0"/>
              </a:rPr>
              <a:t>Năng</a:t>
            </a:r>
            <a:r>
              <a:rPr lang="en-US" sz="4000" b="1" dirty="0">
                <a:solidFill>
                  <a:schemeClr val="bg1">
                    <a:lumMod val="95000"/>
                    <a:lumOff val="5000"/>
                  </a:schemeClr>
                </a:solidFill>
                <a:latin typeface="Times New Roman" panose="02020603050405020304" pitchFamily="18" charset="0"/>
                <a:cs typeface="Times New Roman" panose="02020603050405020304" pitchFamily="18" charset="0"/>
              </a:rPr>
              <a:t> </a:t>
            </a:r>
            <a:r>
              <a:rPr lang="en-US" sz="4000" b="1" dirty="0" err="1">
                <a:solidFill>
                  <a:schemeClr val="bg1">
                    <a:lumMod val="95000"/>
                    <a:lumOff val="5000"/>
                  </a:schemeClr>
                </a:solidFill>
                <a:latin typeface="Times New Roman" panose="02020603050405020304" pitchFamily="18" charset="0"/>
                <a:cs typeface="Times New Roman" panose="02020603050405020304" pitchFamily="18" charset="0"/>
              </a:rPr>
              <a:t>lực</a:t>
            </a:r>
            <a:r>
              <a:rPr lang="en-US" sz="4000" b="1" dirty="0">
                <a:solidFill>
                  <a:schemeClr val="bg1">
                    <a:lumMod val="95000"/>
                    <a:lumOff val="5000"/>
                  </a:schemeClr>
                </a:solidFill>
                <a:latin typeface="Times New Roman" panose="02020603050405020304" pitchFamily="18" charset="0"/>
                <a:cs typeface="Times New Roman" panose="02020603050405020304" pitchFamily="18" charset="0"/>
              </a:rPr>
              <a:t> </a:t>
            </a:r>
            <a:r>
              <a:rPr lang="en-US" sz="4000" b="1" dirty="0" err="1">
                <a:solidFill>
                  <a:schemeClr val="bg1">
                    <a:lumMod val="95000"/>
                    <a:lumOff val="5000"/>
                  </a:schemeClr>
                </a:solidFill>
                <a:latin typeface="Times New Roman" panose="02020603050405020304" pitchFamily="18" charset="0"/>
                <a:cs typeface="Times New Roman" panose="02020603050405020304" pitchFamily="18" charset="0"/>
              </a:rPr>
              <a:t>ngôn</a:t>
            </a:r>
            <a:r>
              <a:rPr lang="en-US" sz="4000" b="1" dirty="0">
                <a:solidFill>
                  <a:schemeClr val="bg1">
                    <a:lumMod val="95000"/>
                    <a:lumOff val="5000"/>
                  </a:schemeClr>
                </a:solidFill>
                <a:latin typeface="Times New Roman" panose="02020603050405020304" pitchFamily="18" charset="0"/>
                <a:cs typeface="Times New Roman" panose="02020603050405020304" pitchFamily="18" charset="0"/>
              </a:rPr>
              <a:t> </a:t>
            </a:r>
            <a:r>
              <a:rPr lang="en-US" sz="4000" b="1" dirty="0" err="1">
                <a:solidFill>
                  <a:schemeClr val="bg1">
                    <a:lumMod val="95000"/>
                    <a:lumOff val="5000"/>
                  </a:schemeClr>
                </a:solidFill>
                <a:latin typeface="Times New Roman" panose="02020603050405020304" pitchFamily="18" charset="0"/>
                <a:cs typeface="Times New Roman" panose="02020603050405020304" pitchFamily="18" charset="0"/>
              </a:rPr>
              <a:t>ngữ</a:t>
            </a:r>
            <a:endParaRPr lang="en-US" sz="4000" b="1"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580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835E98-B1C0-4EA3-A421-D3D5C1F7C61A}"/>
              </a:ext>
            </a:extLst>
          </p:cNvPr>
          <p:cNvSpPr/>
          <p:nvPr/>
        </p:nvSpPr>
        <p:spPr>
          <a:xfrm>
            <a:off x="685801" y="543580"/>
            <a:ext cx="9573455" cy="523220"/>
          </a:xfrm>
          <a:prstGeom prst="rect">
            <a:avLst/>
          </a:prstGeom>
          <a:noFill/>
        </p:spPr>
        <p:txBody>
          <a:bodyPr wrap="none" lIns="91440" tIns="45720" rIns="91440" bIns="45720">
            <a:spAutoFit/>
          </a:bodyPr>
          <a:lstStyle/>
          <a:p>
            <a:pPr algn="l"/>
            <a:r>
              <a:rPr lang="en-US" sz="2800" b="1" i="0" dirty="0">
                <a:solidFill>
                  <a:srgbClr val="FFFF00"/>
                </a:solidFill>
                <a:effectLst/>
                <a:latin typeface="Montserrat" panose="00000500000000000000" pitchFamily="2" charset="0"/>
              </a:rPr>
              <a:t>Content and Language Integrated Learning (CLIL)</a:t>
            </a:r>
          </a:p>
        </p:txBody>
      </p:sp>
      <p:sp>
        <p:nvSpPr>
          <p:cNvPr id="2" name="Rectangle: Rounded Corners 1">
            <a:extLst>
              <a:ext uri="{FF2B5EF4-FFF2-40B4-BE49-F238E27FC236}">
                <a16:creationId xmlns:a16="http://schemas.microsoft.com/office/drawing/2014/main" id="{6F57BEDC-47BB-4436-8DA3-6BF76D162765}"/>
              </a:ext>
            </a:extLst>
          </p:cNvPr>
          <p:cNvSpPr/>
          <p:nvPr/>
        </p:nvSpPr>
        <p:spPr>
          <a:xfrm>
            <a:off x="882315" y="1662209"/>
            <a:ext cx="9144000" cy="130558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err="1">
                <a:solidFill>
                  <a:schemeClr val="accent1">
                    <a:lumMod val="50000"/>
                  </a:schemeClr>
                </a:solidFill>
                <a:latin typeface="Times New Roman" panose="02020603050405020304" pitchFamily="18" charset="0"/>
                <a:cs typeface="Times New Roman" panose="02020603050405020304" pitchFamily="18" charset="0"/>
              </a:rPr>
              <a:t>Là</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phương</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pháp</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dạy</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học</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một</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môn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học</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nào</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đó</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bằng</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ngôn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ngữ</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thứ</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hai</a:t>
            </a:r>
            <a:r>
              <a:rPr lang="en-US" sz="4000" b="1" dirty="0">
                <a:solidFill>
                  <a:schemeClr val="accent1">
                    <a:lumMod val="50000"/>
                  </a:schemeClr>
                </a:solidFill>
                <a:latin typeface="Times New Roman" panose="02020603050405020304" pitchFamily="18" charset="0"/>
                <a:cs typeface="Times New Roman" panose="02020603050405020304" pitchFamily="18" charset="0"/>
              </a:rPr>
              <a:t>.</a:t>
            </a:r>
          </a:p>
        </p:txBody>
      </p:sp>
      <p:sp>
        <p:nvSpPr>
          <p:cNvPr id="6" name="Rectangle: Rounded Corners 5">
            <a:extLst>
              <a:ext uri="{FF2B5EF4-FFF2-40B4-BE49-F238E27FC236}">
                <a16:creationId xmlns:a16="http://schemas.microsoft.com/office/drawing/2014/main" id="{14C73440-C9AE-4DF8-9D3C-E2BB6551E0F6}"/>
              </a:ext>
            </a:extLst>
          </p:cNvPr>
          <p:cNvSpPr/>
          <p:nvPr/>
        </p:nvSpPr>
        <p:spPr>
          <a:xfrm>
            <a:off x="1524000" y="3428999"/>
            <a:ext cx="9144000" cy="2747211"/>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err="1">
                <a:solidFill>
                  <a:schemeClr val="accent1">
                    <a:lumMod val="50000"/>
                  </a:schemeClr>
                </a:solidFill>
                <a:latin typeface="Times New Roman" panose="02020603050405020304" pitchFamily="18" charset="0"/>
                <a:cs typeface="Times New Roman" panose="02020603050405020304" pitchFamily="18" charset="0"/>
              </a:rPr>
              <a:t>Học</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sinh</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vừa</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hiểu</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nội</a:t>
            </a:r>
            <a:r>
              <a:rPr lang="en-US" sz="4000" b="1" dirty="0">
                <a:solidFill>
                  <a:schemeClr val="accent1">
                    <a:lumMod val="50000"/>
                  </a:schemeClr>
                </a:solidFill>
                <a:latin typeface="Times New Roman" panose="02020603050405020304" pitchFamily="18" charset="0"/>
                <a:cs typeface="Times New Roman" panose="02020603050405020304" pitchFamily="18" charset="0"/>
              </a:rPr>
              <a:t> dung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môn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học</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vừa</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phát</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triển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khả</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năng</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sử</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dụng</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ngôn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ngữ</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thứ</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hai</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trong</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ngữ</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cảnh</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chuyên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môn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của</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môn</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học</a:t>
            </a:r>
            <a:r>
              <a:rPr lang="en-US" sz="4000" b="1" dirty="0">
                <a:solidFill>
                  <a:schemeClr val="accent1">
                    <a:lumMod val="50000"/>
                  </a:schemeClr>
                </a:solidFill>
                <a:latin typeface="Times New Roman" panose="02020603050405020304" pitchFamily="18" charset="0"/>
                <a:cs typeface="Times New Roman" panose="02020603050405020304" pitchFamily="18" charset="0"/>
              </a:rPr>
              <a:t> </a:t>
            </a:r>
            <a:r>
              <a:rPr lang="en-US" sz="4000" b="1" dirty="0" err="1">
                <a:solidFill>
                  <a:schemeClr val="accent1">
                    <a:lumMod val="50000"/>
                  </a:schemeClr>
                </a:solidFill>
                <a:latin typeface="Times New Roman" panose="02020603050405020304" pitchFamily="18" charset="0"/>
                <a:cs typeface="Times New Roman" panose="02020603050405020304" pitchFamily="18" charset="0"/>
              </a:rPr>
              <a:t>đó</a:t>
            </a:r>
            <a:r>
              <a:rPr lang="en-US" sz="4000" b="1" dirty="0">
                <a:solidFill>
                  <a:schemeClr val="accent1">
                    <a:lumMod val="5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01098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835E98-B1C0-4EA3-A421-D3D5C1F7C61A}"/>
              </a:ext>
            </a:extLst>
          </p:cNvPr>
          <p:cNvSpPr/>
          <p:nvPr/>
        </p:nvSpPr>
        <p:spPr>
          <a:xfrm>
            <a:off x="685801" y="543580"/>
            <a:ext cx="9573455" cy="523220"/>
          </a:xfrm>
          <a:prstGeom prst="rect">
            <a:avLst/>
          </a:prstGeom>
          <a:noFill/>
        </p:spPr>
        <p:txBody>
          <a:bodyPr wrap="none" lIns="91440" tIns="45720" rIns="91440" bIns="45720">
            <a:spAutoFit/>
          </a:bodyPr>
          <a:lstStyle/>
          <a:p>
            <a:pPr algn="l"/>
            <a:r>
              <a:rPr lang="en-US" sz="2800" b="1" i="0" dirty="0">
                <a:solidFill>
                  <a:srgbClr val="FFFF00"/>
                </a:solidFill>
                <a:effectLst/>
                <a:latin typeface="Montserrat" panose="00000500000000000000" pitchFamily="2" charset="0"/>
              </a:rPr>
              <a:t>Content and Language Integrated Learning (CLIL)</a:t>
            </a:r>
          </a:p>
        </p:txBody>
      </p:sp>
      <p:sp>
        <p:nvSpPr>
          <p:cNvPr id="3" name="Oval 2">
            <a:extLst>
              <a:ext uri="{FF2B5EF4-FFF2-40B4-BE49-F238E27FC236}">
                <a16:creationId xmlns:a16="http://schemas.microsoft.com/office/drawing/2014/main" id="{832BCE77-CFE7-4D15-B4AA-D6A1CA18925D}"/>
              </a:ext>
            </a:extLst>
          </p:cNvPr>
          <p:cNvSpPr/>
          <p:nvPr/>
        </p:nvSpPr>
        <p:spPr>
          <a:xfrm>
            <a:off x="1700462" y="1530169"/>
            <a:ext cx="3160295" cy="2274075"/>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solidFill>
                  <a:schemeClr val="bg1"/>
                </a:solidFill>
                <a:latin typeface="Times New Roman" panose="02020603050405020304" pitchFamily="18" charset="0"/>
                <a:cs typeface="Times New Roman" panose="02020603050405020304" pitchFamily="18" charset="0"/>
              </a:rPr>
              <a:t>Ngôn</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ngữ</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thứ</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hai</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FC22E240-18A5-4145-AD26-6E13D22E3184}"/>
              </a:ext>
            </a:extLst>
          </p:cNvPr>
          <p:cNvSpPr/>
          <p:nvPr/>
        </p:nvSpPr>
        <p:spPr>
          <a:xfrm>
            <a:off x="5751097" y="1530168"/>
            <a:ext cx="3160295" cy="2274075"/>
          </a:xfrm>
          <a:prstGeom prst="ellips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solidFill>
                  <a:schemeClr val="bg1"/>
                </a:solidFill>
                <a:latin typeface="Times New Roman" panose="02020603050405020304" pitchFamily="18" charset="0"/>
                <a:cs typeface="Times New Roman" panose="02020603050405020304" pitchFamily="18" charset="0"/>
              </a:rPr>
              <a:t>Các</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môn</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học</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khác</a:t>
            </a:r>
            <a:endParaRPr lang="en-US" sz="3600" b="1" dirty="0">
              <a:solidFill>
                <a:schemeClr val="bg1"/>
              </a:solidFill>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8D481A36-96B7-4C53-8E42-254ED2BFE71C}"/>
              </a:ext>
            </a:extLst>
          </p:cNvPr>
          <p:cNvCxnSpPr>
            <a:stCxn id="3" idx="6"/>
            <a:endCxn id="7" idx="2"/>
          </p:cNvCxnSpPr>
          <p:nvPr/>
        </p:nvCxnSpPr>
        <p:spPr>
          <a:xfrm flipV="1">
            <a:off x="4860757" y="2667206"/>
            <a:ext cx="890340" cy="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3B46FA3-5821-488C-AF8D-DDC80588EBEA}"/>
              </a:ext>
            </a:extLst>
          </p:cNvPr>
          <p:cNvCxnSpPr/>
          <p:nvPr/>
        </p:nvCxnSpPr>
        <p:spPr>
          <a:xfrm>
            <a:off x="5305927" y="2667205"/>
            <a:ext cx="0" cy="14424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9382F4AD-4D75-46DF-A707-3EBEFC07B539}"/>
              </a:ext>
            </a:extLst>
          </p:cNvPr>
          <p:cNvSpPr/>
          <p:nvPr/>
        </p:nvSpPr>
        <p:spPr>
          <a:xfrm>
            <a:off x="1494216" y="4254182"/>
            <a:ext cx="7623422" cy="2147298"/>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Ngôn</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ngữ</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được</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sử</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dụng</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có</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mục</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đích</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khám</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phá</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nội</a:t>
            </a:r>
            <a:r>
              <a:rPr lang="en-US" sz="2400" b="1" dirty="0">
                <a:solidFill>
                  <a:schemeClr val="accent6">
                    <a:lumMod val="75000"/>
                  </a:schemeClr>
                </a:solidFill>
                <a:latin typeface="Times New Roman" panose="02020603050405020304" pitchFamily="18" charset="0"/>
                <a:cs typeface="Times New Roman" panose="02020603050405020304" pitchFamily="18" charset="0"/>
              </a:rPr>
              <a:t> dung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học</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thuật</a:t>
            </a:r>
            <a:endParaRPr lang="en-US" sz="2400" b="1" dirty="0">
              <a:solidFill>
                <a:schemeClr val="accent6">
                  <a:lumMod val="7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err="1">
                <a:solidFill>
                  <a:schemeClr val="accent6">
                    <a:lumMod val="75000"/>
                  </a:schemeClr>
                </a:solidFill>
                <a:latin typeface="Times New Roman" panose="02020603050405020304" pitchFamily="18" charset="0"/>
                <a:cs typeface="Times New Roman" panose="02020603050405020304" pitchFamily="18" charset="0"/>
              </a:rPr>
              <a:t>Quá</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trình</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tiếp</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thu</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nội</a:t>
            </a:r>
            <a:r>
              <a:rPr lang="en-US" sz="2400" b="1" dirty="0">
                <a:solidFill>
                  <a:schemeClr val="accent6">
                    <a:lumMod val="75000"/>
                  </a:schemeClr>
                </a:solidFill>
                <a:latin typeface="Times New Roman" panose="02020603050405020304" pitchFamily="18" charset="0"/>
                <a:cs typeface="Times New Roman" panose="02020603050405020304" pitchFamily="18" charset="0"/>
              </a:rPr>
              <a:t> dung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sẽ</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giúp</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học</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sinh</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tiếp</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thu</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ngôn</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ngữ</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một</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cách</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tự</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nhiên</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có</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chủ</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đích</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ngữ</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cảnh</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và</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nội</a:t>
            </a:r>
            <a:r>
              <a:rPr lang="en-US" sz="2400" b="1" dirty="0">
                <a:solidFill>
                  <a:schemeClr val="accent6">
                    <a:lumMod val="75000"/>
                  </a:schemeClr>
                </a:solidFill>
                <a:latin typeface="Times New Roman" panose="02020603050405020304" pitchFamily="18" charset="0"/>
                <a:cs typeface="Times New Roman" panose="02020603050405020304" pitchFamily="18" charset="0"/>
              </a:rPr>
              <a:t> dung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rõ</a:t>
            </a:r>
            <a:r>
              <a:rPr lang="en-US" sz="2400" b="1" dirty="0">
                <a:solidFill>
                  <a:schemeClr val="accent6">
                    <a:lumMod val="75000"/>
                  </a:schemeClr>
                </a:solidFill>
                <a:latin typeface="Times New Roman" panose="02020603050405020304" pitchFamily="18" charset="0"/>
                <a:cs typeface="Times New Roman" panose="02020603050405020304" pitchFamily="18" charset="0"/>
              </a:rPr>
              <a:t> </a:t>
            </a:r>
            <a:r>
              <a:rPr lang="en-US" sz="2400" b="1" dirty="0" err="1">
                <a:solidFill>
                  <a:schemeClr val="accent6">
                    <a:lumMod val="75000"/>
                  </a:schemeClr>
                </a:solidFill>
                <a:latin typeface="Times New Roman" panose="02020603050405020304" pitchFamily="18" charset="0"/>
                <a:cs typeface="Times New Roman" panose="02020603050405020304" pitchFamily="18" charset="0"/>
              </a:rPr>
              <a:t>ràng</a:t>
            </a:r>
            <a:endParaRPr lang="en-US" sz="2400" b="1"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1442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3539929-C6A6-4CF6-A072-FBF83E74E9AA}"/>
              </a:ext>
            </a:extLst>
          </p:cNvPr>
          <p:cNvPicPr/>
          <p:nvPr/>
        </p:nvPicPr>
        <p:blipFill>
          <a:blip r:embed="rId2">
            <a:extLst>
              <a:ext uri="{28A0092B-C50C-407E-A947-70E740481C1C}">
                <a14:useLocalDpi xmlns:a14="http://schemas.microsoft.com/office/drawing/2010/main" val="0"/>
              </a:ext>
            </a:extLst>
          </a:blip>
          <a:stretch>
            <a:fillRect/>
          </a:stretch>
        </p:blipFill>
        <p:spPr>
          <a:xfrm>
            <a:off x="177760" y="0"/>
            <a:ext cx="11836479" cy="6858000"/>
          </a:xfrm>
          <a:prstGeom prst="rect">
            <a:avLst/>
          </a:prstGeom>
        </p:spPr>
      </p:pic>
    </p:spTree>
    <p:extLst>
      <p:ext uri="{BB962C8B-B14F-4D97-AF65-F5344CB8AC3E}">
        <p14:creationId xmlns:p14="http://schemas.microsoft.com/office/powerpoint/2010/main" val="414463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06E0-E669-4A01-939F-9F7D96D3462E}"/>
              </a:ext>
            </a:extLst>
          </p:cNvPr>
          <p:cNvSpPr>
            <a:spLocks noGrp="1"/>
          </p:cNvSpPr>
          <p:nvPr>
            <p:ph type="title"/>
          </p:nvPr>
        </p:nvSpPr>
        <p:spPr>
          <a:xfrm>
            <a:off x="2233248" y="1972733"/>
            <a:ext cx="6793522" cy="1456267"/>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MỘT SỐ MẪU CÂU TIẾNG ANH THƯỜNG DÙNG TRONG QUÁ TRÌNH GIẢNG DẠY</a:t>
            </a:r>
          </a:p>
        </p:txBody>
      </p:sp>
    </p:spTree>
    <p:extLst>
      <p:ext uri="{BB962C8B-B14F-4D97-AF65-F5344CB8AC3E}">
        <p14:creationId xmlns:p14="http://schemas.microsoft.com/office/powerpoint/2010/main" val="3078403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06E0-E669-4A01-939F-9F7D96D3462E}"/>
              </a:ext>
            </a:extLst>
          </p:cNvPr>
          <p:cNvSpPr>
            <a:spLocks noGrp="1"/>
          </p:cNvSpPr>
          <p:nvPr>
            <p:ph type="title"/>
          </p:nvPr>
        </p:nvSpPr>
        <p:spPr>
          <a:xfrm>
            <a:off x="2089639" y="1972733"/>
            <a:ext cx="8012721" cy="1456267"/>
          </a:xfrm>
        </p:spPr>
        <p:txBody>
          <a:bodyPr>
            <a:normAutofit/>
          </a:bodyPr>
          <a:lstStyle/>
          <a:p>
            <a:pPr algn="ctr"/>
            <a:r>
              <a:rPr lang="en-US" b="1" dirty="0">
                <a:latin typeface="Times New Roman" panose="02020603050405020304" pitchFamily="18" charset="0"/>
                <a:cs typeface="Times New Roman" panose="02020603050405020304" pitchFamily="18" charset="0"/>
              </a:rPr>
              <a:t>KẾ HOẠCH BÀI DẠY MINH HỌA</a:t>
            </a:r>
          </a:p>
        </p:txBody>
      </p:sp>
    </p:spTree>
    <p:extLst>
      <p:ext uri="{BB962C8B-B14F-4D97-AF65-F5344CB8AC3E}">
        <p14:creationId xmlns:p14="http://schemas.microsoft.com/office/powerpoint/2010/main" val="10142743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{59AB9771-D0A9-47D1-8D4F-AD3B08A949F6}TFb5ae2469-0bae-4978-b0e0-39dd046150ff9a115ede-a9c3cc5252b0</Template>
  <TotalTime>112</TotalTime>
  <Words>581</Words>
  <Application>Microsoft Office PowerPoint</Application>
  <PresentationFormat>Widescreen</PresentationFormat>
  <Paragraphs>43</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Montserrat</vt:lpstr>
      <vt:lpstr>Times New Roman</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MỘT SỐ MẪU CÂU TIẾNG ANH THƯỜNG DÙNG TRONG QUÁ TRÌNH GIẢNG DẠY</vt:lpstr>
      <vt:lpstr>KẾ HOẠCH BÀI DẠY MINH HỌA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Khoa Duong</dc:creator>
  <cp:lastModifiedBy>Khoa Duong</cp:lastModifiedBy>
  <cp:revision>5</cp:revision>
  <dcterms:created xsi:type="dcterms:W3CDTF">2026-07-24T04:26:39Z</dcterms:created>
  <dcterms:modified xsi:type="dcterms:W3CDTF">2026-08-04T15:48:38Z</dcterms:modified>
</cp:coreProperties>
</file>